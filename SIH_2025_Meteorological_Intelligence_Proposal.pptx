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Dancing Script" panose="020B0604020202020204" charset="0"/>
      <p:regular r:id="rId14"/>
      <p:bold r:id="rId15"/>
    </p:embeddedFont>
    <p:embeddedFont>
      <p:font typeface="Garamond" panose="02020404030301010803" pitchFamily="18" charset="0"/>
      <p:regular r:id="rId16"/>
      <p:bold r:id="rId17"/>
      <p:italic r:id="rId18"/>
      <p:boldItalic r:id="rId19"/>
    </p:embeddedFont>
    <p:embeddedFont>
      <p:font typeface="Oswald" panose="020B0604020202020204" charset="0"/>
      <p:regular r:id="rId20"/>
      <p:bold r:id="rId21"/>
    </p:embeddedFont>
    <p:embeddedFont>
      <p:font typeface="Permanent Marker" panose="020B0604020202020204" charset="0"/>
      <p:regular r:id="rId22"/>
    </p:embeddedFont>
    <p:embeddedFont>
      <p:font typeface="Quintessential" panose="020B060402020202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font" Target="fonts/font12.fntdata"/><Relationship Id="rId22" Type="http://schemas.openxmlformats.org/officeDocument/2006/relationships/font" Target="fonts/font13.fntdata"/><Relationship Id="rId23" Type="http://schemas.openxmlformats.org/officeDocument/2006/relationships/font" Target="fonts/font14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hyperlink" Target="https://www.youtube.com/shorts/VSu_6MMC6hk" TargetMode="External"/><Relationship Id="rId10" Type="http://schemas.openxmlformats.org/officeDocument/2006/relationships/hyperlink" Target="https://sidequestvr.com/app/44174/campus-tour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jpeg"/><Relationship Id="rId7" Type="http://schemas.openxmlformats.org/officeDocument/2006/relationships/image" Target="../media/image11.jpeg"/><Relationship Id="rId8" Type="http://schemas.openxmlformats.org/officeDocument/2006/relationships/image" Target="../media/image12.jpeg"/><Relationship Id="rId9" Type="http://schemas.openxmlformats.org/officeDocument/2006/relationships/image" Target="../media/image13.jpeg"/><Relationship Id="rId10" Type="http://schemas.openxmlformats.org/officeDocument/2006/relationships/image" Target="../media/image14.jpeg"/><Relationship Id="rId11" Type="http://schemas.openxmlformats.org/officeDocument/2006/relationships/hyperlink" Target="https://www.youtube.com/shorts/VSu_6MMC6hk" TargetMode="External"/><Relationship Id="rId12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www.sikkim.gov.in/departments/cultural-affairs-and-heritage-department/initiatives-under-archives-archaeology-section?utm_source=chatgpt.com" TargetMode="External"/><Relationship Id="rId5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656780" y="851521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331286" y="-23776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3200" b="1">
                <a:latin typeface="Garamond"/>
              </a:defRPr>
            </a:pPr>
            <a:r>
              <a:t>SMART INDIA HACKATHON 2025</a:t>
            </a:r>
          </a:p>
        </p:txBody>
      </p:sp>
      <p:sp>
        <p:nvSpPr>
          <p:cNvPr id="92" name="Google Shape;92;p13"/>
          <p:cNvSpPr txBox="1"/>
          <p:nvPr/>
        </p:nvSpPr>
        <p:spPr>
          <a:xfrm>
            <a:off x="331286" y="800458"/>
            <a:ext cx="9579600" cy="6001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400"/>
            </a:pPr>
            <a:r>
              <a:t>Problem Statement ID – SIH 2025 (Operational Meteorological Intelligence)</a:t>
            </a:r>
          </a:p>
          <a:p>
            <a:pPr>
              <a:defRPr sz="1400"/>
            </a:pPr>
            <a:r>
              <a:t>Problem Statement Title - Live Geospatial Meteorological Intelligence &amp; Unified Hazard Ingestion Dashboard for India</a:t>
            </a:r>
          </a:p>
          <a:p>
            <a:pPr>
              <a:defRPr sz="1400"/>
            </a:pPr>
            <a:r>
              <a:t>Theme - Disaster Management &amp; Smart Governance</a:t>
            </a:r>
          </a:p>
          <a:p>
            <a:pPr>
              <a:defRPr sz="1400"/>
            </a:pPr>
            <a:r>
              <a:t>PS Category - Software</a:t>
            </a:r>
          </a:p>
          <a:p>
            <a:pPr>
              <a:defRPr sz="1400"/>
            </a:pPr>
            <a:r>
              <a:t>Team ID - 50617</a:t>
            </a:r>
          </a:p>
          <a:p>
            <a:pPr>
              <a:defRPr sz="1400"/>
            </a:pPr>
            <a:r>
              <a:t>Team Name - Antigravity (Promatrs)</a:t>
            </a:r>
          </a:p>
        </p:txBody>
      </p:sp>
      <p:pic>
        <p:nvPicPr>
          <p:cNvPr id="93" name="Google Shape;93;p13" descr="https://www.sih.gov.in/img1/SIH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2" name="Google Shape;102;p14" descr="Your startup LOGO"/>
          <p:cNvSpPr/>
          <p:nvPr/>
        </p:nvSpPr>
        <p:spPr>
          <a:xfrm>
            <a:off x="329773" y="252246"/>
            <a:ext cx="1508859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Promatrs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955388" y="332675"/>
            <a:ext cx="77595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600" b="1">
                <a:latin typeface="Quintessential"/>
              </a:defRPr>
            </a:pPr>
            <a:r>
              <a:t>Live Geospatial Meteorological Intelligence &amp; Unified Hazard Ingestion Platform</a:t>
            </a:r>
          </a:p>
        </p:txBody>
      </p:sp>
      <p:sp>
        <p:nvSpPr>
          <p:cNvPr id="105" name="Google Shape;105;p14"/>
          <p:cNvSpPr/>
          <p:nvPr/>
        </p:nvSpPr>
        <p:spPr>
          <a:xfrm>
            <a:off x="236003" y="1549662"/>
            <a:ext cx="6145341" cy="1777226"/>
          </a:xfrm>
          <a:prstGeom prst="roundRect">
            <a:avLst>
              <a:gd name="adj" fmla="val 16667"/>
            </a:avLst>
          </a:prstGeom>
          <a:solidFill>
            <a:srgbClr val="F2DADA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100"/>
            </a:pPr>
            <a:r>
              <a:t>PROBLEM STATEMENT</a:t>
            </a:r>
          </a:p>
          <a:p>
            <a:pPr>
              <a:defRPr sz="1100"/>
            </a:pPr>
            <a:r>
              <a:t>• Weather information across India is highly fragmented across separate portals (IMD bulletins, MOSDAC satellite images, regional DWR radars, static PDFs).</a:t>
            </a:r>
          </a:p>
          <a:p>
            <a:pPr>
              <a:defRPr sz="1100"/>
            </a:pPr>
            <a:r>
              <a:t>• Critical Decision Gap: Disaster commanders and citizens cannot correlate ground AWS observations, convective nowcasts, and official warnings on a single interactive map.</a:t>
            </a:r>
          </a:p>
          <a:p>
            <a:pPr>
              <a:defRPr sz="1100"/>
            </a:pPr>
            <a:r>
              <a:t>• Opaque &amp; Misleading Alerts: Traditional apps display generic cloud icons or synthesize unverified forecasts instead of presenting genuine ground-truth telemetry and traceable official bulletins.</a:t>
            </a:r>
          </a:p>
        </p:txBody>
      </p:sp>
      <p:sp>
        <p:nvSpPr>
          <p:cNvPr id="106" name="Google Shape;106;p14"/>
          <p:cNvSpPr txBox="1"/>
          <p:nvPr/>
        </p:nvSpPr>
        <p:spPr>
          <a:xfrm>
            <a:off x="1156764" y="3286108"/>
            <a:ext cx="3788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300" b="1">
                <a:latin typeface="Permanent Marker"/>
              </a:defRPr>
            </a:pPr>
            <a:r>
              <a:t>Who We Serve</a:t>
            </a:r>
          </a:p>
        </p:txBody>
      </p:sp>
      <p:sp>
        <p:nvSpPr>
          <p:cNvPr id="107" name="Google Shape;107;p14"/>
          <p:cNvSpPr/>
          <p:nvPr/>
        </p:nvSpPr>
        <p:spPr>
          <a:xfrm>
            <a:off x="6945572" y="1793824"/>
            <a:ext cx="5010424" cy="3742394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050"/>
            </a:pPr>
            <a:r>
              <a:t>• Real-Time Geospatial Intelligence: Ingests 1,165+ IMD AWS stations, INSAT-3DR satellite, and DWR Doppler radars into a single interactive GIS dashboard.</a:t>
            </a:r>
          </a:p>
          <a:p>
            <a:pPr>
              <a:defRPr sz="1050"/>
            </a:pPr>
            <a:r>
              <a:t>• Clear Tripartite Separation: Strictly distinguishes LIVE OBSERVATIONS (measured ground facts), NOWCASTS (0-3h severe convective events), and WARNINGS (official 1-5 day alerts).</a:t>
            </a:r>
          </a:p>
          <a:p>
            <a:pPr>
              <a:defRPr sz="1050"/>
            </a:pPr>
            <a:r>
              <a:t>• 100% Real Available Data: Zero simulated weather values; every reading has verified data provenance, timestamps, and data freshness indicators.</a:t>
            </a:r>
          </a:p>
          <a:p>
            <a:pPr>
              <a:defRPr sz="1050"/>
            </a:pPr>
            <a:r>
              <a:t>• Dynamic Station &amp; Radar Ingestion: Spatial nearest-station matching with range limits; displays 'AWS/Radar Data Unavailable' rather than fabricating data.</a:t>
            </a:r>
          </a:p>
          <a:p>
            <a:pPr>
              <a:defRPr sz="1050"/>
            </a:pPr>
            <a:r>
              <a:t>• Sub-30s Automated Event &amp; Warning GIS: Spatial district polygons, radar 250km rings, and WMO CAP protocol integration.</a:t>
            </a:r>
          </a:p>
        </p:txBody>
      </p:sp>
      <p:pic>
        <p:nvPicPr>
          <p:cNvPr id="108" name="Google Shape;108;p14"/>
          <p:cNvPicPr preferRelativeResize="0"/>
          <p:nvPr/>
        </p:nvPicPr>
        <p:blipFill rotWithShape="1">
          <a:blip r:embed="rId4">
            <a:alphaModFix/>
          </a:blip>
          <a:srcRect l="17398" t="9710" r="14689" b="9297"/>
          <a:stretch/>
        </p:blipFill>
        <p:spPr>
          <a:xfrm>
            <a:off x="10015072" y="1441986"/>
            <a:ext cx="1042925" cy="57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9" name="Google Shape;10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975" y="3422103"/>
            <a:ext cx="1794476" cy="15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3587" y="3695745"/>
            <a:ext cx="1794481" cy="1794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7664" y="3501244"/>
            <a:ext cx="1794481" cy="1794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 rotWithShape="1">
          <a:blip r:embed="rId6">
            <a:alphaModFix/>
          </a:blip>
          <a:srcRect l="14359" t="8312" r="8936" b="8892"/>
          <a:stretch/>
        </p:blipFill>
        <p:spPr>
          <a:xfrm>
            <a:off x="481025" y="3990966"/>
            <a:ext cx="1206350" cy="112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49200" y="5051803"/>
            <a:ext cx="20700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000" b="1">
                <a:latin typeface="Quintessential"/>
              </a:defRPr>
            </a:pPr>
            <a:r>
              <a:t>Disaster Management Authorities (NDMA, SDMAs, EOCs)</a:t>
            </a:r>
          </a:p>
        </p:txBody>
      </p:sp>
      <p:pic>
        <p:nvPicPr>
          <p:cNvPr id="114" name="Google Shape;114;p14"/>
          <p:cNvPicPr preferRelativeResize="0"/>
          <p:nvPr/>
        </p:nvPicPr>
        <p:blipFill rotWithShape="1">
          <a:blip r:embed="rId7">
            <a:alphaModFix/>
          </a:blip>
          <a:srcRect t="26557" b="20998"/>
          <a:stretch/>
        </p:blipFill>
        <p:spPr>
          <a:xfrm>
            <a:off x="2296386" y="4305086"/>
            <a:ext cx="1508850" cy="117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1908986" y="5387136"/>
            <a:ext cx="23997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000" b="1">
                <a:latin typeface="Quintessential"/>
              </a:defRPr>
            </a:pPr>
            <a:r>
              <a:t>Aviation, Agriculture &amp; Infrastructure Planners</a:t>
            </a:r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8">
            <a:alphaModFix/>
          </a:blip>
          <a:srcRect l="11385" t="34136" r="16552" b="4377"/>
          <a:stretch/>
        </p:blipFill>
        <p:spPr>
          <a:xfrm>
            <a:off x="4381458" y="4087399"/>
            <a:ext cx="1730675" cy="13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4154458" y="5319112"/>
            <a:ext cx="20700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000" b="1">
                <a:latin typeface="Quintessential"/>
              </a:defRPr>
            </a:pPr>
            <a:r>
              <a:t>District Highway Engineers, First Responders &amp; Citizens</a:t>
            </a:r>
          </a:p>
        </p:txBody>
      </p:sp>
      <p:sp>
        <p:nvSpPr>
          <p:cNvPr id="118" name="Google Shape;118;p14"/>
          <p:cNvSpPr txBox="1"/>
          <p:nvPr/>
        </p:nvSpPr>
        <p:spPr>
          <a:xfrm>
            <a:off x="7007900" y="1443325"/>
            <a:ext cx="3152100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1300" b="1">
                <a:latin typeface="Times New Roman"/>
              </a:defRPr>
            </a:pPr>
            <a:r>
              <a:t>PROPOSED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BA924C-3C33-4A99-9EBB-2FAB977D2DF3}"/>
              </a:ext>
            </a:extLst>
          </p:cNvPr>
          <p:cNvSpPr/>
          <p:nvPr/>
        </p:nvSpPr>
        <p:spPr>
          <a:xfrm>
            <a:off x="7235014" y="5568933"/>
            <a:ext cx="6096000" cy="6848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 sz="900"/>
            </a:pPr>
            <a:r>
              <a:t>Operational GIS Dashboard: Direct IMD Ingestion Active</a:t>
            </a:r>
          </a:p>
        </p:txBody>
      </p:sp>
      <p:sp>
        <p:nvSpPr>
          <p:cNvPr id="24" name="Google Shape;118;p14">
            <a:extLst>
              <a:ext uri="{FF2B5EF4-FFF2-40B4-BE49-F238E27FC236}">
                <a16:creationId xmlns:a16="http://schemas.microsoft.com/office/drawing/2014/main" id="{955E9DE5-3319-4BF1-A3BA-68BCAA5B9488}"/>
              </a:ext>
            </a:extLst>
          </p:cNvPr>
          <p:cNvSpPr txBox="1"/>
          <p:nvPr/>
        </p:nvSpPr>
        <p:spPr>
          <a:xfrm>
            <a:off x="-15271" y="5922758"/>
            <a:ext cx="8400514" cy="5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900">
                <a:latin typeface="Times New Roman"/>
              </a:defRPr>
            </a:pPr>
            <a:r>
              <a:t>Mandate: Zero Fabricated Weather Values • 1,165+ Operational IMD AWS Stations Ingested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 descr="Your startup LOGO"/>
          <p:cNvSpPr/>
          <p:nvPr/>
        </p:nvSpPr>
        <p:spPr>
          <a:xfrm>
            <a:off x="329773" y="252246"/>
            <a:ext cx="1480366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Promatrs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1917781" y="259679"/>
            <a:ext cx="7815943" cy="43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800" b="1">
                <a:latin typeface="Times New Roman"/>
              </a:defRPr>
            </a:pPr>
            <a:r>
              <a:t>TECHNICAL APPROACH &amp; DATA FLOW ARCHITECTURE</a:t>
            </a:r>
          </a:p>
        </p:txBody>
      </p:sp>
      <p:sp>
        <p:nvSpPr>
          <p:cNvPr id="126" name="Google Shape;126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 dirty="0">
              <a:solidFill>
                <a:schemeClr val="lt1"/>
              </a:solidFill>
            </a:endParaRPr>
          </a:p>
        </p:txBody>
      </p:sp>
      <p:pic>
        <p:nvPicPr>
          <p:cNvPr id="129" name="Google Shape;129;p15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6667" y="3302622"/>
            <a:ext cx="1406100" cy="3015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27719" y="3320141"/>
            <a:ext cx="1477301" cy="300964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/>
          <p:nvPr/>
        </p:nvSpPr>
        <p:spPr>
          <a:xfrm>
            <a:off x="-31736" y="1660408"/>
            <a:ext cx="3620684" cy="1810084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C8B2E9"/>
              </a:gs>
              <a:gs pos="35000">
                <a:srgbClr val="D6CAED"/>
              </a:gs>
              <a:gs pos="100000">
                <a:srgbClr val="EFE8FA"/>
              </a:gs>
            </a:gsLst>
            <a:lin ang="16198662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 sz="1050">
                <a:latin typeface="Times New Roman"/>
              </a:defRPr>
            </a:pPr>
            <a:r>
              <a:t>• IMD AWS/ARG Network — Real-time ground observations (temp, humidity, 1h/24h rain, wind, MSLP)</a:t>
            </a:r>
          </a:p>
          <a:p>
            <a:pPr>
              <a:defRPr sz="1050">
                <a:latin typeface="Times New Roman"/>
              </a:defRPr>
            </a:pPr>
            <a:r>
              <a:t>• ISRO MOSDAC / INSAT-3DR — Rapid-scan geostationary TIR-1 cloud-top cooling &amp; glaciation</a:t>
            </a:r>
          </a:p>
          <a:p>
            <a:pPr>
              <a:defRPr sz="1050">
                <a:latin typeface="Times New Roman"/>
              </a:defRPr>
            </a:pPr>
            <a:r>
              <a:t>• IMD Doppler Weather Radar — 250km volumetric PPI reflectivity (dBZ) &amp; rain rates</a:t>
            </a:r>
          </a:p>
          <a:p>
            <a:pPr>
              <a:defRPr sz="1050">
                <a:latin typeface="Times New Roman"/>
              </a:defRPr>
            </a:pPr>
            <a:r>
              <a:t>• IMD NWFC APIs — Authoritative 0-3h nowcasts &amp; 1-5 day district hazard bulletins</a:t>
            </a:r>
          </a:p>
          <a:p>
            <a:pPr>
              <a:defRPr sz="1050">
                <a:latin typeface="Times New Roman"/>
              </a:defRPr>
            </a:pPr>
            <a:r>
              <a:t>• Next.js 14 &amp; Leaflet/MapLibre — GPU-accelerated GIS engine with district polygons</a:t>
            </a:r>
          </a:p>
          <a:p>
            <a:pPr>
              <a:defRPr sz="1050">
                <a:latin typeface="Times New Roman"/>
              </a:defRPr>
            </a:pPr>
            <a:r>
              <a:t>• FastAPI &amp; Python Backend — Strict validation, Haversine spatial queries &amp; caching</a:t>
            </a:r>
          </a:p>
        </p:txBody>
      </p:sp>
      <p:sp>
        <p:nvSpPr>
          <p:cNvPr id="141" name="Google Shape;141;p15"/>
          <p:cNvSpPr txBox="1"/>
          <p:nvPr/>
        </p:nvSpPr>
        <p:spPr>
          <a:xfrm>
            <a:off x="3671125" y="4022000"/>
            <a:ext cx="1005300" cy="6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A3D3A6-648C-4AB6-A7F6-4BCFE61BDA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6240" y="3269903"/>
            <a:ext cx="1406100" cy="3048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219F7C-0A33-4459-B523-2FD1E97C37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6412" y="3235362"/>
            <a:ext cx="1408280" cy="30531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B45C33-2F0E-4537-9BF2-3F6D6C688D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899" y="3610200"/>
            <a:ext cx="1477300" cy="3202819"/>
          </a:xfrm>
          <a:prstGeom prst="rect">
            <a:avLst/>
          </a:prstGeom>
        </p:spPr>
      </p:pic>
      <p:sp>
        <p:nvSpPr>
          <p:cNvPr id="130" name="Google Shape;130;p15"/>
          <p:cNvSpPr txBox="1"/>
          <p:nvPr/>
        </p:nvSpPr>
        <p:spPr>
          <a:xfrm>
            <a:off x="84267" y="1300017"/>
            <a:ext cx="25233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300" b="1">
                <a:latin typeface="Times New Roman"/>
              </a:defRPr>
            </a:pPr>
            <a:r>
              <a:t>Technologies &amp; Ingestion Streams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FA37B1-15C5-4665-BC51-26BB01D1CF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6934" y="3175451"/>
            <a:ext cx="1477301" cy="32028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675D06-D577-4F37-AA41-1F650B61E4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1017" y="3566041"/>
            <a:ext cx="1477301" cy="320282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EB142C5-8A64-4529-A8AA-B2CB529BE300}"/>
              </a:ext>
            </a:extLst>
          </p:cNvPr>
          <p:cNvSpPr/>
          <p:nvPr/>
        </p:nvSpPr>
        <p:spPr>
          <a:xfrm>
            <a:off x="7367769" y="6506862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>
                <a:highlight>
                  <a:srgbClr val="FFFF00"/>
                </a:highlight>
                <a:latin typeface="Calibri" panose="020F0502020204030204" pitchFamily="34" charset="0"/>
              </a:rPr>
              <a:t>For detailed understanding, </a:t>
            </a:r>
            <a:r>
              <a:rPr lang="en-GB" b="1" u="sng" dirty="0">
                <a:solidFill>
                  <a:srgbClr val="0000FF"/>
                </a:solidFill>
                <a:highlight>
                  <a:srgbClr val="FFFF00"/>
                </a:highlight>
                <a:latin typeface="Calibri" panose="020F0502020204030204" pitchFamily="34" charset="0"/>
                <a:hlinkClick r:id="rId11"/>
              </a:rPr>
              <a:t>click here.</a:t>
            </a:r>
            <a:endParaRPr lang="en-GB" dirty="0">
              <a:highlight>
                <a:srgbClr val="FFFF00"/>
              </a:highlight>
            </a:endParaRPr>
          </a:p>
          <a:p>
            <a:br>
              <a:rPr lang="en-GB" dirty="0">
                <a:highlight>
                  <a:srgbClr val="FFFF00"/>
                </a:highlight>
              </a:rPr>
            </a:br>
            <a:endParaRPr lang="en-IN" dirty="0">
              <a:highlight>
                <a:srgbClr val="FFFF00"/>
              </a:highlight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A41EF2D-7733-403B-B95E-E472A149738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1246" y="1239273"/>
            <a:ext cx="4715032" cy="195968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5CED629-0E04-4DBD-9F1D-D917AFB7FD49}"/>
              </a:ext>
            </a:extLst>
          </p:cNvPr>
          <p:cNvSpPr/>
          <p:nvPr/>
        </p:nvSpPr>
        <p:spPr>
          <a:xfrm>
            <a:off x="3095854" y="992240"/>
            <a:ext cx="37962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Multi-Source Data Flow Pipeline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9F712F-BA66-4119-BDBB-01125391F08C}"/>
              </a:ext>
            </a:extLst>
          </p:cNvPr>
          <p:cNvSpPr/>
          <p:nvPr/>
        </p:nvSpPr>
        <p:spPr>
          <a:xfrm>
            <a:off x="3671125" y="1361181"/>
            <a:ext cx="33760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000">
                <a:latin typeface="Times New Roman"/>
              </a:defRPr>
            </a:pPr>
            <a:r>
              <a:t>• Ingestion: Automated authenticated fetchers (JWT + API Key) polling official IMD/MOSDAC endpoints.</a:t>
            </a:r>
          </a:p>
          <a:p>
            <a:pPr>
              <a:defRPr sz="1000">
                <a:latin typeface="Times New Roman"/>
              </a:defRPr>
            </a:pPr>
            <a:r>
              <a:t>• Validation: Coordinate bounding box (India 6°-38°N, 68°-98°E), physical sanity checks (-15°C to 55°C, 0-500 mm rain).</a:t>
            </a:r>
          </a:p>
          <a:p>
            <a:pPr>
              <a:defRPr sz="1000">
                <a:latin typeface="Times New Roman"/>
              </a:defRPr>
            </a:pPr>
            <a:r>
              <a:t>• Spatial Engine: Haversine distance matching connects selected location to nearest AWS (&lt;120km) and DWR (&lt;250km).</a:t>
            </a:r>
          </a:p>
          <a:p>
            <a:pPr>
              <a:defRPr sz="1000">
                <a:latin typeface="Times New Roman"/>
              </a:defRPr>
            </a:pPr>
            <a:r>
              <a:t>• Tripartite Classification: Keeps Observations (Gauges), Nowcasts (0-3h Convection), and Warnings (1-5 Day) distinct.</a:t>
            </a:r>
          </a:p>
          <a:p>
            <a:pPr>
              <a:defRPr sz="1000">
                <a:latin typeface="Times New Roman"/>
              </a:defRPr>
            </a:pPr>
            <a:r>
              <a:t>• GIS Engine: Renders administrative district polygons, warning heatmaps, radar range rings, and interactive inspection ping.</a:t>
            </a:r>
          </a:p>
          <a:p>
            <a:pPr>
              <a:defRPr sz="1000">
                <a:latin typeface="Times New Roman"/>
              </a:defRPr>
            </a:pPr>
            <a:r>
              <a:t>• Data Provenance: Traceable metadata (station ID, observation timestamp, received time, latency) on every metric.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800" b="1"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150" name="Google Shape;150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1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16" descr="Your startup LOGO"/>
          <p:cNvSpPr/>
          <p:nvPr/>
        </p:nvSpPr>
        <p:spPr>
          <a:xfrm>
            <a:off x="308341" y="160141"/>
            <a:ext cx="1539667" cy="727468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Promatrs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6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/>
          <p:nvPr/>
        </p:nvSpPr>
        <p:spPr>
          <a:xfrm>
            <a:off x="1362298" y="1277527"/>
            <a:ext cx="3184366" cy="16017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F5AAB"/>
              </a:gs>
              <a:gs pos="100000">
                <a:srgbClr val="C7AEED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4648200" y="1261479"/>
            <a:ext cx="3547966" cy="160175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237350" y="1331787"/>
            <a:ext cx="3687900" cy="1752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6"/>
          <p:cNvPicPr preferRelativeResize="0"/>
          <p:nvPr/>
        </p:nvPicPr>
        <p:blipFill rotWithShape="1">
          <a:blip r:embed="rId4">
            <a:alphaModFix/>
          </a:blip>
          <a:srcRect l="15614" r="14353"/>
          <a:stretch/>
        </p:blipFill>
        <p:spPr>
          <a:xfrm>
            <a:off x="68167" y="1179965"/>
            <a:ext cx="1275795" cy="160175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58" name="Google Shape;158;p16"/>
          <p:cNvSpPr txBox="1"/>
          <p:nvPr/>
        </p:nvSpPr>
        <p:spPr>
          <a:xfrm>
            <a:off x="243040" y="1945543"/>
            <a:ext cx="120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Quintessential"/>
                <a:ea typeface="Quintessential"/>
                <a:cs typeface="Quintessential"/>
                <a:sym typeface="Quintessential"/>
              </a:rPr>
              <a:t>Feasibility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4666536" y="1293572"/>
            <a:ext cx="35682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950">
                <a:latin typeface="Times New Roman"/>
              </a:defRPr>
            </a:pPr>
            <a:r>
              <a:t>• Proven, working system connecting directly to live official IMD and MOSDAC endpoints.</a:t>
            </a:r>
          </a:p>
          <a:p>
            <a:pPr>
              <a:defRPr sz="950">
                <a:latin typeface="Times New Roman"/>
              </a:defRPr>
            </a:pPr>
            <a:r>
              <a:t>• High-speed geospatial querying using Haversine indexing without database deadlocks.</a:t>
            </a:r>
          </a:p>
          <a:p>
            <a:pPr>
              <a:defRPr sz="950">
                <a:latin typeface="Times New Roman"/>
              </a:defRPr>
            </a:pPr>
            <a:r>
              <a:t>• Standard Open Geospatial Consortium (OGC) GeoJSON and WMO CAP-v1.2 XML protocol compliance.</a:t>
            </a:r>
          </a:p>
        </p:txBody>
      </p:sp>
      <p:sp>
        <p:nvSpPr>
          <p:cNvPr id="160" name="Google Shape;160;p16"/>
          <p:cNvSpPr/>
          <p:nvPr/>
        </p:nvSpPr>
        <p:spPr>
          <a:xfrm>
            <a:off x="8366550" y="1179975"/>
            <a:ext cx="33198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950"/>
            </a:pPr>
            <a:r>
              <a:t>• 100% Open-Source software stack (Next.js, Python, Leaflet, MapLibre, PostgreSQL) with zero proprietary GIS licensing fees.</a:t>
            </a:r>
          </a:p>
          <a:p>
            <a:pPr>
              <a:defRPr sz="950"/>
            </a:pPr>
            <a:r>
              <a:t>• Utilizes public governmental meteorological services (IMD Open Data, ISRO MOSDAC, NASA GPM).</a:t>
            </a:r>
          </a:p>
        </p:txBody>
      </p:sp>
      <p:sp>
        <p:nvSpPr>
          <p:cNvPr id="161" name="Google Shape;161;p16"/>
          <p:cNvSpPr txBox="1"/>
          <p:nvPr/>
        </p:nvSpPr>
        <p:spPr>
          <a:xfrm>
            <a:off x="1445498" y="900171"/>
            <a:ext cx="33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Quintessential"/>
              </a:defRPr>
            </a:pPr>
            <a:r>
              <a:t>Operational Feasibility</a:t>
            </a:r>
          </a:p>
        </p:txBody>
      </p:sp>
      <p:sp>
        <p:nvSpPr>
          <p:cNvPr id="162" name="Google Shape;162;p16"/>
          <p:cNvSpPr txBox="1"/>
          <p:nvPr/>
        </p:nvSpPr>
        <p:spPr>
          <a:xfrm>
            <a:off x="4999725" y="900174"/>
            <a:ext cx="284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Quintessential"/>
              </a:defRPr>
            </a:pPr>
            <a:r>
              <a:t>Technical Feasibility</a:t>
            </a:r>
          </a:p>
        </p:txBody>
      </p:sp>
      <p:sp>
        <p:nvSpPr>
          <p:cNvPr id="163" name="Google Shape;163;p16"/>
          <p:cNvSpPr txBox="1"/>
          <p:nvPr/>
        </p:nvSpPr>
        <p:spPr>
          <a:xfrm>
            <a:off x="8366559" y="900184"/>
            <a:ext cx="281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Quintessential"/>
              </a:defRPr>
            </a:pPr>
            <a:r>
              <a:t>Financial Feasibility</a:t>
            </a:r>
          </a:p>
        </p:txBody>
      </p:sp>
      <p:sp>
        <p:nvSpPr>
          <p:cNvPr id="164" name="Google Shape;164;p16"/>
          <p:cNvSpPr txBox="1"/>
          <p:nvPr/>
        </p:nvSpPr>
        <p:spPr>
          <a:xfrm>
            <a:off x="441900" y="2911337"/>
            <a:ext cx="278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Quintessential"/>
              </a:defRPr>
            </a:pPr>
            <a:r>
              <a:t>Challenges and Risks</a:t>
            </a:r>
          </a:p>
        </p:txBody>
      </p:sp>
      <p:sp>
        <p:nvSpPr>
          <p:cNvPr id="165" name="Google Shape;165;p16"/>
          <p:cNvSpPr txBox="1"/>
          <p:nvPr/>
        </p:nvSpPr>
        <p:spPr>
          <a:xfrm>
            <a:off x="5869924" y="3029325"/>
            <a:ext cx="278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Quintessential"/>
              </a:defRPr>
            </a:pPr>
            <a:r>
              <a:t>Risks and Mitigation</a:t>
            </a:r>
          </a:p>
        </p:txBody>
      </p:sp>
      <p:sp>
        <p:nvSpPr>
          <p:cNvPr id="166" name="Google Shape;166;p16"/>
          <p:cNvSpPr/>
          <p:nvPr/>
        </p:nvSpPr>
        <p:spPr>
          <a:xfrm>
            <a:off x="1343950" y="1301600"/>
            <a:ext cx="33198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950">
                <a:latin typeface="Times New Roman"/>
              </a:defRPr>
            </a:pPr>
            <a:r>
              <a:t>• Built specifically for State Disaster Management Authorities (SDMAs), district control rooms, and highway engineers.</a:t>
            </a:r>
          </a:p>
          <a:p>
            <a:pPr>
              <a:defRPr sz="950">
                <a:latin typeface="Times New Roman"/>
              </a:defRPr>
            </a:pPr>
            <a:r>
              <a:t>• Zero learning curve: Clean operational layout (~65% map / ~35% context panel) showing what is happening and where.</a:t>
            </a:r>
          </a:p>
        </p:txBody>
      </p:sp>
      <p:sp>
        <p:nvSpPr>
          <p:cNvPr id="167" name="Google Shape;167;p16"/>
          <p:cNvSpPr/>
          <p:nvPr/>
        </p:nvSpPr>
        <p:spPr>
          <a:xfrm>
            <a:off x="264100" y="2872425"/>
            <a:ext cx="5479500" cy="3491400"/>
          </a:xfrm>
          <a:prstGeom prst="horizontalScroll">
            <a:avLst>
              <a:gd name="adj" fmla="val 12500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38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>
              <a:defRPr sz="950"/>
            </a:pPr>
            <a:r>
              <a:t>• Data Latency &amp; Outages: Upstream feeds can experience network delays.</a:t>
            </a:r>
          </a:p>
          <a:p>
            <a:pPr>
              <a:defRPr sz="950"/>
            </a:pPr>
            <a:r>
              <a:t>• Sensor Density: Remote mountain areas have fewer AWS stations within 120km.</a:t>
            </a:r>
          </a:p>
          <a:p>
            <a:pPr>
              <a:defRPr sz="950"/>
            </a:pPr>
            <a:r>
              <a:t>• Radar Blind Spots: Mountain topography and 250km DWR range limits can leave valleys unmonitored.</a:t>
            </a:r>
          </a:p>
        </p:txBody>
      </p:sp>
      <p:sp>
        <p:nvSpPr>
          <p:cNvPr id="168" name="Google Shape;168;p16"/>
          <p:cNvSpPr/>
          <p:nvPr/>
        </p:nvSpPr>
        <p:spPr>
          <a:xfrm>
            <a:off x="5869925" y="3084375"/>
            <a:ext cx="5964000" cy="3279300"/>
          </a:xfrm>
          <a:prstGeom prst="horizontalScroll">
            <a:avLst>
              <a:gd name="adj" fmla="val 12500"/>
            </a:avLst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38" scaled="0"/>
          </a:gradFill>
          <a:ln w="9525" cap="flat" cmpd="sng">
            <a:solidFill>
              <a:srgbClr val="97B85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>
              <a:defRPr sz="950">
                <a:latin typeface="Times New Roman"/>
              </a:defRPr>
            </a:pPr>
            <a:r>
              <a:t>• Transparent Status: Display real status (🟢 LIVE, 🟡 DELAYED, 🟠 STALE, 🔴 UNAVAILABLE) and exact observation age.</a:t>
            </a:r>
          </a:p>
          <a:p>
            <a:pPr>
              <a:defRPr sz="950">
                <a:latin typeface="Times New Roman"/>
              </a:defRPr>
            </a:pPr>
            <a:r>
              <a:t>• Strict 'Data Unavailable' Policy: Display honest absence of data rather than generating misleading synthetic numbers.</a:t>
            </a:r>
          </a:p>
          <a:p>
            <a:pPr>
              <a:defRPr sz="950">
                <a:latin typeface="Times New Roman"/>
              </a:defRPr>
            </a:pPr>
            <a:r>
              <a:t>• Multi-Source Triangulation: Combine satellite cloud-top cooling with ground gauges when radar is outside 250km limit.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>
            <a:spLocks noGrp="1"/>
          </p:cNvSpPr>
          <p:nvPr>
            <p:ph type="title"/>
          </p:nvPr>
        </p:nvSpPr>
        <p:spPr>
          <a:xfrm>
            <a:off x="609600" y="-1878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800" b="1"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176" name="Google Shape;176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7" name="Google Shape;177;p17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8" name="Google Shape;178;p17" descr="Your startup LOGO"/>
          <p:cNvSpPr/>
          <p:nvPr/>
        </p:nvSpPr>
        <p:spPr>
          <a:xfrm>
            <a:off x="266248" y="147871"/>
            <a:ext cx="1545600" cy="8073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Promatrs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7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/>
          <p:cNvPicPr preferRelativeResize="0"/>
          <p:nvPr/>
        </p:nvPicPr>
        <p:blipFill rotWithShape="1">
          <a:blip r:embed="rId4">
            <a:alphaModFix/>
          </a:blip>
          <a:srcRect l="22846" t="7740" r="20137"/>
          <a:stretch/>
        </p:blipFill>
        <p:spPr>
          <a:xfrm>
            <a:off x="321375" y="1070725"/>
            <a:ext cx="1545675" cy="14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/>
          <p:cNvPicPr preferRelativeResize="0"/>
          <p:nvPr/>
        </p:nvPicPr>
        <p:blipFill rotWithShape="1">
          <a:blip r:embed="rId5">
            <a:alphaModFix/>
          </a:blip>
          <a:srcRect l="-2400" t="-16894" r="2400" b="29405"/>
          <a:stretch/>
        </p:blipFill>
        <p:spPr>
          <a:xfrm>
            <a:off x="266250" y="2224125"/>
            <a:ext cx="1672726" cy="218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/>
          <p:cNvPicPr preferRelativeResize="0"/>
          <p:nvPr/>
        </p:nvPicPr>
        <p:blipFill rotWithShape="1">
          <a:blip r:embed="rId6">
            <a:alphaModFix/>
          </a:blip>
          <a:srcRect t="3677" b="3926"/>
          <a:stretch/>
        </p:blipFill>
        <p:spPr>
          <a:xfrm>
            <a:off x="266250" y="4574188"/>
            <a:ext cx="1672724" cy="15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/>
          <p:nvPr/>
        </p:nvSpPr>
        <p:spPr>
          <a:xfrm rot="5400000">
            <a:off x="2958876" y="-191200"/>
            <a:ext cx="1870200" cy="3684600"/>
          </a:xfrm>
          <a:prstGeom prst="wedgeRoundRectCallout">
            <a:avLst>
              <a:gd name="adj1" fmla="val -21649"/>
              <a:gd name="adj2" fmla="val 55554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2146800" y="861000"/>
            <a:ext cx="34734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050">
                <a:latin typeface="Permanent Marker"/>
              </a:defRPr>
            </a:pPr>
            <a:r>
              <a:t>For Disaster Authorities &amp; First Responders</a:t>
            </a:r>
          </a:p>
          <a:p>
            <a:pPr>
              <a:defRPr sz="1050">
                <a:latin typeface="Permanent Marker"/>
              </a:defRPr>
            </a:pPr>
            <a:r>
              <a:t>• Unified situational awareness: eliminates switching across 6+ disparate portals during emergencies.</a:t>
            </a:r>
          </a:p>
          <a:p>
            <a:pPr>
              <a:defRPr sz="1050">
                <a:latin typeface="Permanent Marker"/>
              </a:defRPr>
            </a:pPr>
            <a:r>
              <a:t>• Instant spatial correlation of official IMD warnings with ground-truth rainfall telemetry.</a:t>
            </a:r>
          </a:p>
          <a:p>
            <a:pPr>
              <a:defRPr sz="1050">
                <a:latin typeface="Permanent Marker"/>
              </a:defRPr>
            </a:pPr>
            <a:r>
              <a:t>• Common Alerting Protocol (CAP) compliance for geo-targeted public safety broadcast.</a:t>
            </a:r>
          </a:p>
        </p:txBody>
      </p:sp>
      <p:sp>
        <p:nvSpPr>
          <p:cNvPr id="185" name="Google Shape;185;p17"/>
          <p:cNvSpPr/>
          <p:nvPr/>
        </p:nvSpPr>
        <p:spPr>
          <a:xfrm rot="5400000">
            <a:off x="3000075" y="1845675"/>
            <a:ext cx="1870200" cy="3618600"/>
          </a:xfrm>
          <a:prstGeom prst="wedgeRoundRectCallout">
            <a:avLst>
              <a:gd name="adj1" fmla="val -21649"/>
              <a:gd name="adj2" fmla="val 55554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2146800" y="2806525"/>
            <a:ext cx="39492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 sz="1050">
                <a:latin typeface="Permanent Marker"/>
              </a:defRPr>
            </a:pPr>
            <a:r>
              <a:t>For Agriculture, Infrastructure &amp; Public Safety</a:t>
            </a:r>
          </a:p>
          <a:p>
            <a:pPr>
              <a:defRPr sz="1050">
                <a:latin typeface="Permanent Marker"/>
              </a:defRPr>
            </a:pPr>
            <a:r>
              <a:t>• Farmers &amp; district officers access genuine localized rainfall observations for irrigation &amp; flood mitigation.</a:t>
            </a:r>
          </a:p>
          <a:p>
            <a:pPr>
              <a:defRPr sz="1050">
                <a:latin typeface="Permanent Marker"/>
              </a:defRPr>
            </a:pPr>
            <a:r>
              <a:t>• Transport &amp; highway departments monitor rainfall corridors to pre-emptively close inundated passes.</a:t>
            </a:r>
          </a:p>
          <a:p>
            <a:pPr>
              <a:defRPr sz="1050">
                <a:latin typeface="Permanent Marker"/>
              </a:defRPr>
            </a:pPr>
            <a:r>
              <a:t>• Citizens receive geographically precise advisories without confusing raw meteorological jargon.</a:t>
            </a:r>
          </a:p>
        </p:txBody>
      </p:sp>
      <p:sp>
        <p:nvSpPr>
          <p:cNvPr id="187" name="Google Shape;187;p17"/>
          <p:cNvSpPr/>
          <p:nvPr/>
        </p:nvSpPr>
        <p:spPr>
          <a:xfrm rot="5400000">
            <a:off x="3118325" y="3617650"/>
            <a:ext cx="1600800" cy="3709500"/>
          </a:xfrm>
          <a:prstGeom prst="wedgeRoundRectCallout">
            <a:avLst>
              <a:gd name="adj1" fmla="val -21649"/>
              <a:gd name="adj2" fmla="val 55554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2001825" y="4761263"/>
            <a:ext cx="38667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 sz="1050">
                <a:latin typeface="Permanent Marker"/>
              </a:defRPr>
            </a:pPr>
            <a:r>
              <a:t>For Government &amp; Meteorological Research</a:t>
            </a:r>
          </a:p>
          <a:p>
            <a:pPr>
              <a:defRPr sz="1050">
                <a:latin typeface="Permanent Marker"/>
              </a:defRPr>
            </a:pPr>
            <a:r>
              <a:t>• Single consolidated spatial dashboard supporting MoES, NDMA, and state government operations.</a:t>
            </a:r>
          </a:p>
          <a:p>
            <a:pPr>
              <a:defRPr sz="1050">
                <a:latin typeface="Permanent Marker"/>
              </a:defRPr>
            </a:pPr>
            <a:r>
              <a:t>• Defensible, verifiable data provenance: every value can be audited with station ID and observation timestamp.</a:t>
            </a:r>
          </a:p>
          <a:p>
            <a:pPr>
              <a:defRPr sz="1050">
                <a:latin typeface="Permanent Marker"/>
              </a:defRPr>
            </a:pPr>
            <a:r>
              <a:t>• Scalable nationwide architecture capable of supporting all 36 States/UTs and 750+ districts.</a:t>
            </a:r>
          </a:p>
        </p:txBody>
      </p:sp>
      <p:pic>
        <p:nvPicPr>
          <p:cNvPr id="189" name="Google Shape;18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31375" y="716000"/>
            <a:ext cx="5739924" cy="544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800" b="1">
                <a:latin typeface="Times New Roman"/>
              </a:defRPr>
            </a:pPr>
            <a:r>
              <a:t>RESEARCH, REFERENCES &amp; BENCHMARKS</a:t>
            </a:r>
          </a:p>
        </p:txBody>
      </p:sp>
      <p:sp>
        <p:nvSpPr>
          <p:cNvPr id="197" name="Google Shape;19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8" name="Google Shape;198;p18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9" name="Google Shape;199;p18" descr="Your startup LOGO"/>
          <p:cNvSpPr/>
          <p:nvPr/>
        </p:nvSpPr>
        <p:spPr>
          <a:xfrm>
            <a:off x="329773" y="252246"/>
            <a:ext cx="160062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Promatrs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18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/>
          <p:nvPr/>
        </p:nvSpPr>
        <p:spPr>
          <a:xfrm>
            <a:off x="412533" y="1201502"/>
            <a:ext cx="5388827" cy="4834755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974806"/>
              </a:solidFill>
              <a:latin typeface="Quintessential"/>
              <a:ea typeface="Quintessential"/>
              <a:cs typeface="Quintessential"/>
              <a:sym typeface="Quintessential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6095999" y="1095377"/>
            <a:ext cx="5683500" cy="4834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609600" y="1422400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Permanent Marker"/>
              </a:defRPr>
            </a:pPr>
            <a:r>
              <a:t>Authoritative Standards &amp; Government Initiatives</a:t>
            </a:r>
          </a:p>
        </p:txBody>
      </p:sp>
      <p:sp>
        <p:nvSpPr>
          <p:cNvPr id="204" name="Google Shape;204;p18"/>
          <p:cNvSpPr/>
          <p:nvPr/>
        </p:nvSpPr>
        <p:spPr>
          <a:xfrm>
            <a:off x="478950" y="1892250"/>
            <a:ext cx="5388900" cy="39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000">
                <a:latin typeface="Times New Roman"/>
              </a:defRPr>
            </a:pPr>
            <a:r>
              <a:t>• IMD NWFC: National Weather Forecasting Centre operational bulletins, nowcasts, and AWS network standards.</a:t>
            </a:r>
          </a:p>
          <a:p>
            <a:pPr>
              <a:defRPr sz="1000">
                <a:latin typeface="Times New Roman"/>
              </a:defRPr>
            </a:pPr>
            <a:r>
              <a:t>• ISRO MOSDAC: Geostationary INSAT-3D/3DR rapid-scan infrared and water-vapour imagery protocols.</a:t>
            </a:r>
          </a:p>
          <a:p>
            <a:pPr>
              <a:defRPr sz="1000">
                <a:latin typeface="Times New Roman"/>
              </a:defRPr>
            </a:pPr>
            <a:r>
              <a:t>• NDMA SACHET: Common Alerting Protocol (CAP) standards for multi-hazard disaster warning dissemination.</a:t>
            </a:r>
          </a:p>
          <a:p>
            <a:pPr>
              <a:defRPr sz="1000">
                <a:latin typeface="Times New Roman"/>
              </a:defRPr>
            </a:pPr>
            <a:r>
              <a:t>• GSI Bhooskhalan &amp; ISRO Bhuvan: Geospatial hazard mapping and terrain vulnerability standards.</a:t>
            </a:r>
          </a:p>
        </p:txBody>
      </p:sp>
      <p:sp>
        <p:nvSpPr>
          <p:cNvPr id="205" name="Google Shape;205;p18"/>
          <p:cNvSpPr txBox="1"/>
          <p:nvPr/>
        </p:nvSpPr>
        <p:spPr>
          <a:xfrm>
            <a:off x="6095534" y="1294974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Permanent Marker"/>
              </a:defRPr>
            </a:pPr>
            <a:r>
              <a:t>Benchmark Comparisons: Why This Platform?</a:t>
            </a:r>
          </a:p>
        </p:txBody>
      </p:sp>
      <p:sp>
        <p:nvSpPr>
          <p:cNvPr id="206" name="Google Shape;206;p18"/>
          <p:cNvSpPr/>
          <p:nvPr/>
        </p:nvSpPr>
        <p:spPr>
          <a:xfrm>
            <a:off x="6055650" y="1422400"/>
            <a:ext cx="5764200" cy="24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1000">
                <a:latin typeface="Times New Roman"/>
              </a:defRPr>
            </a:pPr>
            <a:r>
              <a:t>• Commercial Weather Apps (AccuWeather, Google Weather): Focus on commercial consumer forecasts using global low-res models; blind to official IMD district nowcasts and radar sweeps.</a:t>
            </a:r>
          </a:p>
          <a:p>
            <a:pPr>
              <a:defRPr sz="1000">
                <a:latin typeface="Times New Roman"/>
              </a:defRPr>
            </a:pPr>
            <a:r>
              <a:t>• Official IMD Web Portals: Authoritative, but dispersed across multiple fragmented legacy websites with PDFs and static tables.</a:t>
            </a:r>
          </a:p>
          <a:p>
            <a:pPr>
              <a:defRPr sz="1000">
                <a:latin typeface="Times New Roman"/>
              </a:defRPr>
            </a:pPr>
            <a:r>
              <a:t>• Antigravity Intelligence Platform: Fuses authoritative IMD AWS, INSAT-3DR satellite, Doppler radar, and district warnings into one unified, real-time GIS operational command centre.</a:t>
            </a:r>
          </a:p>
        </p:txBody>
      </p:sp>
      <p:pic>
        <p:nvPicPr>
          <p:cNvPr id="207" name="Google Shape;20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7375" y="3547550"/>
            <a:ext cx="5540751" cy="226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7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DAE5F1"/>
          </a:solidFill>
          <a:ln w="38100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defRPr sz="1100">
                <a:latin typeface="Arial"/>
              </a:defRPr>
            </a:pPr>
            <a:r>
              <a:t>1. REAL DATA: 100% genuine observations from IMD AWS, INSAT-3DR, and DWR radars. Zero fabricated weather values.</a:t>
            </a:r>
          </a:p>
          <a:p>
            <a:pPr>
              <a:defRPr sz="1100">
                <a:latin typeface="Arial"/>
              </a:defRPr>
            </a:pPr>
            <a:r>
              <a:t>2. REAL GIS: Spatial representation via district polygons, warning zones, and radar range rings rather than cluttered icons.</a:t>
            </a:r>
          </a:p>
          <a:p>
            <a:pPr>
              <a:defRPr sz="1100">
                <a:latin typeface="Arial"/>
              </a:defRPr>
            </a:pPr>
            <a:r>
              <a:t>3. CLEAR TRIPARTITE LOGIC: Ground Observations, Convective Nowcasts, and Official Warnings have distinct physical meanings.</a:t>
            </a:r>
          </a:p>
          <a:p>
            <a:pPr>
              <a:defRPr sz="1100">
                <a:latin typeface="Arial"/>
              </a:defRPr>
            </a:pPr>
            <a:r>
              <a:t>4. TRACEABLE PROVENANCE: Every metric is traceable to station ID, observation time, received time, and data age.</a:t>
            </a:r>
          </a:p>
          <a:p>
            <a:pPr>
              <a:defRPr sz="1100">
                <a:latin typeface="Arial"/>
              </a:defRPr>
            </a:pPr>
            <a:r>
              <a:t>5. DEFENSIVE FAILURES: Displays 'DATA UNAVAILABLE' with reason when a station/radar is out of range, rather than guessing.</a:t>
            </a:r>
          </a:p>
        </p:txBody>
      </p:sp>
      <p:sp>
        <p:nvSpPr>
          <p:cNvPr id="218" name="Google Shape;218;p19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600" b="1">
                <a:latin typeface="Times New Roman"/>
              </a:defRPr>
            </a:pPr>
            <a:r>
              <a:t>SYSTEM ARCHITECTURE CREED &amp; QUALITY STANDARD</a:t>
            </a:r>
          </a:p>
        </p:txBody>
      </p:sp>
      <p:sp>
        <p:nvSpPr>
          <p:cNvPr id="219" name="Google Shape;219;p19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 sz="1200" b="1">
                <a:latin typeface="Arial"/>
              </a:defRPr>
            </a:pPr>
            <a:r>
              <a:t>Core Architectural Principles for Evaluators &amp; Reviewers</a:t>
            </a:r>
          </a:p>
        </p:txBody>
      </p:sp>
      <p:pic>
        <p:nvPicPr>
          <p:cNvPr id="220" name="Google Shape;220;p19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1030</Words>
  <Application>Microsoft Office PowerPoint</Application>
  <PresentationFormat>Widescreen</PresentationFormat>
  <Paragraphs>129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Calibri</vt:lpstr>
      <vt:lpstr>Times New Roman</vt:lpstr>
      <vt:lpstr>Oswald</vt:lpstr>
      <vt:lpstr>Dancing Script</vt:lpstr>
      <vt:lpstr>Permanent Marker</vt:lpstr>
      <vt:lpstr>Arial</vt:lpstr>
      <vt:lpstr>Garamond</vt:lpstr>
      <vt:lpstr>Quintessential</vt:lpstr>
      <vt:lpstr>Office Theme</vt:lpstr>
      <vt:lpstr>SMART INDIA HACKATHON 2025</vt:lpstr>
      <vt:lpstr>PowerPoint Presentation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2025</dc:title>
  <dc:creator>Zarah</dc:creator>
  <cp:lastModifiedBy>ADMIN</cp:lastModifiedBy>
  <cp:revision>13</cp:revision>
  <dcterms:modified xsi:type="dcterms:W3CDTF">2026-09-16T09:22:11Z</dcterms:modified>
</cp:coreProperties>
</file>