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Dancing Script" panose="020B0604020202020204" charset="0"/>
      <p:regular r:id="rId14"/>
      <p:bold r:id="rId15"/>
    </p:embeddedFon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Oswald" panose="020B0604020202020204" charset="0"/>
      <p:regular r:id="rId20"/>
      <p:bold r:id="rId21"/>
    </p:embeddedFont>
    <p:embeddedFont>
      <p:font typeface="Permanent Marker" panose="020B0604020202020204" charset="0"/>
      <p:regular r:id="rId22"/>
    </p:embeddedFont>
    <p:embeddedFont>
      <p:font typeface="Quintessential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https://sidequestvr.com/app/44174/campus-tour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youtube.com/shorts/VSu_6MMC6hk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hyperlink" Target="https://www.youtube.com/shorts/VSu_6MMC6hk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www.sikkim.gov.in/departments/cultural-affairs-and-heritage-department/initiatives-under-archives-archaeology-section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331286" y="-23776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31286" y="800458"/>
            <a:ext cx="9579600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 </a:t>
            </a:r>
            <a:r>
              <a:rPr lang="en-IN" sz="2400" b="1" dirty="0">
                <a:solidFill>
                  <a:schemeClr val="dk1"/>
                </a:solidFill>
              </a:rPr>
              <a:t>25061</a:t>
            </a:r>
            <a:endParaRPr sz="2400" b="1" dirty="0">
              <a:solidFill>
                <a:schemeClr val="dk1"/>
              </a:solidFill>
            </a:endParaRP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Problem Statement </a:t>
            </a:r>
            <a:r>
              <a:rPr lang="en-US" sz="2400" b="1" dirty="0">
                <a:solidFill>
                  <a:schemeClr val="dk1"/>
                </a:solidFill>
              </a:rPr>
              <a:t>Title -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400" b="1" dirty="0">
                <a:latin typeface="Arial" panose="020B0604020202020204" pitchFamily="34" charset="0"/>
              </a:rPr>
              <a:t>Digitize and </a:t>
            </a:r>
          </a:p>
          <a:p>
            <a:pPr marL="457200" algn="just"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</a:rPr>
              <a:t>Showcase Monasteries of Sikkim for </a:t>
            </a:r>
            <a:endParaRPr lang="en-GB" sz="2400" dirty="0"/>
          </a:p>
          <a:p>
            <a:pPr marL="457200" algn="just"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</a:rPr>
              <a:t>Tourism and Cultural Preservation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chemeClr val="dk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Theme -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400" b="1" dirty="0">
                <a:latin typeface="Arial" panose="020B0604020202020204" pitchFamily="34" charset="0"/>
              </a:rPr>
              <a:t>Travel &amp; Tourism</a:t>
            </a:r>
            <a:endParaRPr sz="2400" b="1" dirty="0">
              <a:latin typeface="Arial" panose="020B0604020202020204" pitchFamily="34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dirty="0"/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r>
              <a:rPr lang="en-IN" sz="2400" b="1" dirty="0">
                <a:solidFill>
                  <a:schemeClr val="dk1"/>
                </a:solidFill>
              </a:rPr>
              <a:t>50617</a:t>
            </a:r>
            <a:endParaRPr sz="2400" b="1" dirty="0"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-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Promatrs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 descr="Your startup LOGO"/>
          <p:cNvSpPr/>
          <p:nvPr/>
        </p:nvSpPr>
        <p:spPr>
          <a:xfrm>
            <a:off x="329773" y="252246"/>
            <a:ext cx="1508859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955388" y="332675"/>
            <a:ext cx="77595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12529"/>
                </a:solidFill>
                <a:highlight>
                  <a:srgbClr val="FFFFFF"/>
                </a:highlight>
                <a:latin typeface="Quintessential"/>
                <a:ea typeface="Quintessential"/>
                <a:cs typeface="Quintessential"/>
                <a:sym typeface="Quintessential"/>
              </a:rPr>
              <a:t>Digitize and Showcase Monasteries of Sikkim for Tourism and Cultural Preservation</a:t>
            </a:r>
            <a:endParaRPr sz="3000" b="1" u="none" strike="noStrike" cap="none">
              <a:solidFill>
                <a:srgbClr val="3F3151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36003" y="1549662"/>
            <a:ext cx="6145341" cy="1777226"/>
          </a:xfrm>
          <a:prstGeom prst="roundRect">
            <a:avLst>
              <a:gd name="adj" fmla="val 16667"/>
            </a:avLst>
          </a:prstGeom>
          <a:solidFill>
            <a:srgbClr val="F2DAD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7030A0"/>
              </a:solidFill>
              <a:latin typeface="Times New Roman" panose="02020603050405020304" pitchFamily="18" charset="0"/>
              <a:ea typeface="Dancing Script"/>
              <a:cs typeface="Times New Roman" panose="02020603050405020304" pitchFamily="18" charset="0"/>
              <a:sym typeface="Dancing Scrip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PROBLEM STATEMENT</a:t>
            </a:r>
            <a:endParaRPr sz="1200" b="1" dirty="0">
              <a:solidFill>
                <a:srgbClr val="0D0D0D"/>
              </a:solidFill>
              <a:latin typeface="Times New Roman" panose="02020603050405020304" pitchFamily="18" charset="0"/>
              <a:ea typeface="Quintessential"/>
              <a:cs typeface="Times New Roman" panose="02020603050405020304" pitchFamily="18" charset="0"/>
              <a:sym typeface="Quintessential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Times New Roman"/>
              <a:buChar char="●"/>
            </a:pPr>
            <a:r>
              <a:rPr lang="en-US" sz="12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Despite over 200 monasteries in Sikkim, </a:t>
            </a:r>
            <a:r>
              <a:rPr lang="en-US" sz="1200" b="1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digital access remains fragmented, limiting global engagement and preservation efforts.</a:t>
            </a:r>
            <a:endParaRPr sz="1200" b="1" dirty="0">
              <a:solidFill>
                <a:srgbClr val="0D0D0D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Times New Roman"/>
              <a:buChar char="●"/>
            </a:pPr>
            <a:r>
              <a:rPr lang="en-US" sz="12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Many monasteries </a:t>
            </a:r>
            <a:r>
              <a:rPr lang="en-US" sz="1200" b="1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lack digital platforms to showcase their rich cultural heritage</a:t>
            </a:r>
            <a:r>
              <a:rPr lang="en-US" sz="12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resulting in missed opportunities for education and tourism.</a:t>
            </a:r>
            <a:endParaRPr sz="1200" dirty="0">
              <a:solidFill>
                <a:srgbClr val="0D0D0D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Times New Roman"/>
              <a:buChar char="●"/>
            </a:pPr>
            <a:r>
              <a:rPr lang="en-US" sz="12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Traditional ticketing systems are outdated, leading to </a:t>
            </a:r>
            <a:r>
              <a:rPr lang="en-US" sz="1200" b="1" dirty="0">
                <a:solidFill>
                  <a:srgbClr val="0D0D0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overcrowding and reduced visitor satisfaction.</a:t>
            </a:r>
            <a:endParaRPr sz="1200" b="1" dirty="0">
              <a:solidFill>
                <a:srgbClr val="0D0D0D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7030A0"/>
              </a:solidFill>
              <a:latin typeface="Times New Roman" panose="02020603050405020304" pitchFamily="18" charset="0"/>
              <a:ea typeface="Dancing Script"/>
              <a:cs typeface="Times New Roman" panose="02020603050405020304" pitchFamily="18" charset="0"/>
              <a:sym typeface="Dancing Scrip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156764" y="3286108"/>
            <a:ext cx="378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Who We Serve </a:t>
            </a:r>
            <a:endParaRPr sz="2000" b="1" dirty="0">
              <a:solidFill>
                <a:schemeClr val="dk1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945572" y="1793824"/>
            <a:ext cx="5010424" cy="374239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0D0D0D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0D0D0D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0D0D0D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Offline-First Access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Ensures usability in remote areas with limited internet connectivity.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360° Virtual Tours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Provides immersive experiences of monastery interiors and surroundings.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Audio/Video Guides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Caters to a diverse audience with language preferences.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Search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Enables quick access to specific information and locations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Maps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Guides visitors through monastery locations, routes, and nearby attractions.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Ticketing &amp; Booking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Facilitates smooth visitor management and reduces overcrowding.</a:t>
            </a:r>
          </a:p>
          <a:p>
            <a:pPr marL="457200" indent="-330200"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altLang="en-US" sz="1200" dirty="0">
                <a:solidFill>
                  <a:schemeClr val="dk1"/>
                </a:solidFill>
                <a:latin typeface="Times New Roman"/>
                <a:cs typeface="Times New Roman"/>
              </a:rPr>
              <a:t>Use photogrammetry tools to create textured meshes → export FBX/OBJ for Unity(Used in our implemented Project and It is available for download in VR Quest(Link is mentioned below).</a:t>
            </a:r>
          </a:p>
          <a:p>
            <a:pPr marL="457200" indent="-330200"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altLang="en-US" sz="1200" dirty="0">
                <a:solidFill>
                  <a:schemeClr val="dk1"/>
                </a:solidFill>
                <a:latin typeface="Times New Roman"/>
                <a:cs typeface="Times New Roman"/>
              </a:rPr>
              <a:t> VR interactions (hotspots, text overlays, teleport/motion mode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 b="1" dirty="0">
              <a:solidFill>
                <a:srgbClr val="0D0D0D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97480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 l="17398" t="9710" r="14689" b="9297"/>
          <a:stretch/>
        </p:blipFill>
        <p:spPr>
          <a:xfrm>
            <a:off x="10015072" y="1441986"/>
            <a:ext cx="1042925" cy="57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9" name="Google Shape;10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975" y="3422103"/>
            <a:ext cx="1794476" cy="15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3587" y="3695745"/>
            <a:ext cx="1794481" cy="1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664" y="3501244"/>
            <a:ext cx="1794481" cy="1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 rotWithShape="1">
          <a:blip r:embed="rId6">
            <a:alphaModFix/>
          </a:blip>
          <a:srcRect l="14359" t="8312" r="8936" b="8892"/>
          <a:stretch/>
        </p:blipFill>
        <p:spPr>
          <a:xfrm>
            <a:off x="481025" y="3990966"/>
            <a:ext cx="1206350" cy="11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9200" y="5051803"/>
            <a:ext cx="20700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12529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Domestic and International Tourists</a:t>
            </a:r>
            <a:endParaRPr sz="1600" b="1">
              <a:solidFill>
                <a:srgbClr val="212529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7">
            <a:alphaModFix/>
          </a:blip>
          <a:srcRect t="26557" b="20998"/>
          <a:stretch/>
        </p:blipFill>
        <p:spPr>
          <a:xfrm>
            <a:off x="2296386" y="4305086"/>
            <a:ext cx="1508850" cy="11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908986" y="5387136"/>
            <a:ext cx="23997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12529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Monastery Authorities</a:t>
            </a:r>
            <a:endParaRPr sz="1600" b="1">
              <a:solidFill>
                <a:srgbClr val="212529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8">
            <a:alphaModFix/>
          </a:blip>
          <a:srcRect l="11385" t="34136" r="16552" b="4377"/>
          <a:stretch/>
        </p:blipFill>
        <p:spPr>
          <a:xfrm>
            <a:off x="4381458" y="4087399"/>
            <a:ext cx="1730675" cy="1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4154458" y="5319112"/>
            <a:ext cx="20700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12529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Sikkim Government / Business Authorities</a:t>
            </a:r>
            <a:endParaRPr sz="1600" b="1">
              <a:solidFill>
                <a:srgbClr val="212529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007900" y="1443325"/>
            <a:ext cx="31521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PROPOSED SOLUTION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ea typeface="Quintessential"/>
              <a:cs typeface="Times New Roman" panose="02020603050405020304" pitchFamily="18" charset="0"/>
              <a:sym typeface="Quintessent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A924C-3C33-4A99-9EBB-2FAB977D2DF3}"/>
              </a:ext>
            </a:extLst>
          </p:cNvPr>
          <p:cNvSpPr/>
          <p:nvPr/>
        </p:nvSpPr>
        <p:spPr>
          <a:xfrm>
            <a:off x="7235014" y="5568933"/>
            <a:ext cx="6096000" cy="6848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Our MVP : </a:t>
            </a:r>
            <a:r>
              <a:rPr lang="en-GB" u="sng" dirty="0">
                <a:hlinkClick r:id="rId9"/>
              </a:rPr>
              <a:t>https://www.youtube.com/shorts/VSu_6MMC6hk</a:t>
            </a:r>
            <a:endParaRPr lang="en-GB" sz="1050" dirty="0"/>
          </a:p>
          <a:p>
            <a:br>
              <a:rPr lang="en-GB" sz="1050" dirty="0"/>
            </a:br>
            <a:endParaRPr lang="en-IN" dirty="0"/>
          </a:p>
        </p:txBody>
      </p:sp>
      <p:sp>
        <p:nvSpPr>
          <p:cNvPr id="24" name="Google Shape;118;p14">
            <a:extLst>
              <a:ext uri="{FF2B5EF4-FFF2-40B4-BE49-F238E27FC236}">
                <a16:creationId xmlns:a16="http://schemas.microsoft.com/office/drawing/2014/main" id="{955E9DE5-3319-4BF1-A3BA-68BCAA5B9488}"/>
              </a:ext>
            </a:extLst>
          </p:cNvPr>
          <p:cNvSpPr txBox="1"/>
          <p:nvPr/>
        </p:nvSpPr>
        <p:spPr>
          <a:xfrm>
            <a:off x="-15271" y="5922758"/>
            <a:ext cx="8400514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VR </a:t>
            </a:r>
            <a:r>
              <a:rPr lang="en-US" sz="1500" b="1" dirty="0" err="1">
                <a:solidFill>
                  <a:schemeClr val="dk1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murugan</a:t>
            </a: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 Available in following link: </a:t>
            </a:r>
            <a:r>
              <a:rPr lang="en-IN" sz="1600" dirty="0">
                <a:hlinkClick r:id="rId10"/>
              </a:rPr>
              <a:t>https://sidequestvr.com/app/44174/campus-tour</a:t>
            </a:r>
            <a:endParaRPr lang="en-IN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 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ea typeface="Quintessential"/>
              <a:cs typeface="Times New Roman" panose="02020603050405020304" pitchFamily="18" charset="0"/>
              <a:sym typeface="Quintessent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 descr="Your startup LOGO"/>
          <p:cNvSpPr/>
          <p:nvPr/>
        </p:nvSpPr>
        <p:spPr>
          <a:xfrm>
            <a:off x="329773" y="252246"/>
            <a:ext cx="1480366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1917781" y="259679"/>
            <a:ext cx="7815943" cy="43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pic>
        <p:nvPicPr>
          <p:cNvPr id="129" name="Google Shape;129;p1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667" y="3302622"/>
            <a:ext cx="1406100" cy="301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27719" y="3320141"/>
            <a:ext cx="1477301" cy="300964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-31736" y="1660408"/>
            <a:ext cx="3620684" cy="1810084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19866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Native—Cross-platform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mobile app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Services—Bluetooth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Mapbox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AR/VR Platforms -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Mode -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Tourism Integration—APIs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local transport 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Figma -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UI/UX Design</a:t>
            </a:r>
            <a:endParaRPr sz="12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3671125" y="4022000"/>
            <a:ext cx="10053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3D3A6-648C-4AB6-A7F6-4BCFE61BD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240" y="3269903"/>
            <a:ext cx="1406100" cy="3048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219F7C-0A33-4459-B523-2FD1E97C3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412" y="3235362"/>
            <a:ext cx="1408280" cy="3053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45C33-2F0E-4537-9BF2-3F6D6C688D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99" y="3610200"/>
            <a:ext cx="1477300" cy="3202819"/>
          </a:xfrm>
          <a:prstGeom prst="rect">
            <a:avLst/>
          </a:prstGeom>
        </p:spPr>
      </p:pic>
      <p:sp>
        <p:nvSpPr>
          <p:cNvPr id="130" name="Google Shape;130;p15"/>
          <p:cNvSpPr txBox="1"/>
          <p:nvPr/>
        </p:nvSpPr>
        <p:spPr>
          <a:xfrm>
            <a:off x="84267" y="1300017"/>
            <a:ext cx="25233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Quintessential"/>
                <a:cs typeface="Times New Roman" panose="02020603050405020304" pitchFamily="18" charset="0"/>
                <a:sym typeface="Quintessential"/>
              </a:rPr>
              <a:t>Technologies Used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ea typeface="Quintessential"/>
              <a:cs typeface="Times New Roman" panose="02020603050405020304" pitchFamily="18" charset="0"/>
              <a:sym typeface="Quintessent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974806"/>
              </a:solidFill>
              <a:latin typeface="Times New Roman" panose="02020603050405020304" pitchFamily="18" charset="0"/>
              <a:ea typeface="Dancing Script"/>
              <a:cs typeface="Times New Roman" panose="02020603050405020304" pitchFamily="18" charset="0"/>
              <a:sym typeface="Dancing Scrip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FA37B1-15C5-4665-BC51-26BB01D1CF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6934" y="3175451"/>
            <a:ext cx="1477301" cy="3202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675D06-D577-4F37-AA41-1F650B61E4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1017" y="3566041"/>
            <a:ext cx="1477301" cy="32028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B142C5-8A64-4529-A8AA-B2CB529BE300}"/>
              </a:ext>
            </a:extLst>
          </p:cNvPr>
          <p:cNvSpPr/>
          <p:nvPr/>
        </p:nvSpPr>
        <p:spPr>
          <a:xfrm>
            <a:off x="7367769" y="6506862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</a:rPr>
              <a:t>For detailed understanding, </a:t>
            </a:r>
            <a:r>
              <a:rPr lang="en-GB" b="1" u="sng" dirty="0">
                <a:solidFill>
                  <a:srgbClr val="0000FF"/>
                </a:solidFill>
                <a:highlight>
                  <a:srgbClr val="FFFF00"/>
                </a:highlight>
                <a:latin typeface="Calibri" panose="020F0502020204030204" pitchFamily="34" charset="0"/>
                <a:hlinkClick r:id="rId11"/>
              </a:rPr>
              <a:t>click here.</a:t>
            </a:r>
            <a:endParaRPr lang="en-GB" dirty="0">
              <a:highlight>
                <a:srgbClr val="FFFF00"/>
              </a:highlight>
            </a:endParaRPr>
          </a:p>
          <a:p>
            <a:br>
              <a:rPr lang="en-GB" dirty="0">
                <a:highlight>
                  <a:srgbClr val="FFFF00"/>
                </a:highlight>
              </a:rPr>
            </a:b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A41EF2D-7733-403B-B95E-E472A14973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1246" y="1239273"/>
            <a:ext cx="4715032" cy="19596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CED629-0E04-4DBD-9F1D-D917AFB7FD49}"/>
              </a:ext>
            </a:extLst>
          </p:cNvPr>
          <p:cNvSpPr/>
          <p:nvPr/>
        </p:nvSpPr>
        <p:spPr>
          <a:xfrm>
            <a:off x="3095854" y="992240"/>
            <a:ext cx="3796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Our implemented VR Murugan virtual Tour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9F712F-BA66-4119-BDBB-01125391F08C}"/>
              </a:ext>
            </a:extLst>
          </p:cNvPr>
          <p:cNvSpPr/>
          <p:nvPr/>
        </p:nvSpPr>
        <p:spPr>
          <a:xfrm>
            <a:off x="3671125" y="1361181"/>
            <a:ext cx="33760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Capture: 360 camera + photogrammetry image set (for 3D models).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Processing: Use photogrammetry tools to create textured meshes → export FBX/OBJ for Unity.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LODs, light baking, normal maps for mobile/VR.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Interaction: reuse your Murugan VR interactions (hotspots, text overlays, teleport/motion mode).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6" descr="Your startup LOGO"/>
          <p:cNvSpPr/>
          <p:nvPr/>
        </p:nvSpPr>
        <p:spPr>
          <a:xfrm>
            <a:off x="308341" y="160141"/>
            <a:ext cx="1539667" cy="727468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1362298" y="1277527"/>
            <a:ext cx="3184366" cy="16017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648200" y="1261479"/>
            <a:ext cx="3547966" cy="16017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237350" y="1331787"/>
            <a:ext cx="3687900" cy="1752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4">
            <a:alphaModFix/>
          </a:blip>
          <a:srcRect l="15614" r="14353"/>
          <a:stretch/>
        </p:blipFill>
        <p:spPr>
          <a:xfrm>
            <a:off x="68167" y="1179965"/>
            <a:ext cx="1275795" cy="160175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58" name="Google Shape;158;p16"/>
          <p:cNvSpPr txBox="1"/>
          <p:nvPr/>
        </p:nvSpPr>
        <p:spPr>
          <a:xfrm>
            <a:off x="243040" y="1945543"/>
            <a:ext cx="120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Feasibility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666536" y="1293572"/>
            <a:ext cx="35682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latin typeface="Times New Roman"/>
                <a:ea typeface="Times New Roman"/>
                <a:cs typeface="Times New Roman"/>
                <a:sym typeface="Times New Roman"/>
              </a:rPr>
              <a:t>Scalable mobile and cloud platform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with 360° tours and drone</a:t>
            </a:r>
            <a:r>
              <a:rPr lang="en-US" sz="1700" b="1">
                <a:latin typeface="Times New Roman"/>
                <a:ea typeface="Times New Roman"/>
                <a:cs typeface="Times New Roman"/>
                <a:sym typeface="Times New Roman"/>
              </a:rPr>
              <a:t> &amp; 3D scanning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tourism, GPS/Bluetooth-based with offline mode.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366550" y="1179975"/>
            <a:ext cx="33198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Low-cost, app-based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heritage platform.</a:t>
            </a:r>
            <a:endParaRPr sz="1700"/>
          </a:p>
          <a:p>
            <a:pPr marL="28575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via public–private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partnerships,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CSR funding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grants from cultural and educational organizations.</a:t>
            </a:r>
            <a:endParaRPr sz="17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445498" y="900171"/>
            <a:ext cx="33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32423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Operational Feasibility</a:t>
            </a:r>
            <a:endParaRPr sz="2000"/>
          </a:p>
        </p:txBody>
      </p:sp>
      <p:sp>
        <p:nvSpPr>
          <p:cNvPr id="162" name="Google Shape;162;p16"/>
          <p:cNvSpPr txBox="1"/>
          <p:nvPr/>
        </p:nvSpPr>
        <p:spPr>
          <a:xfrm>
            <a:off x="4999725" y="900174"/>
            <a:ext cx="284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32423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Technical Feasibility</a:t>
            </a:r>
            <a:endParaRPr sz="2000"/>
          </a:p>
        </p:txBody>
      </p:sp>
      <p:sp>
        <p:nvSpPr>
          <p:cNvPr id="163" name="Google Shape;163;p16"/>
          <p:cNvSpPr txBox="1"/>
          <p:nvPr/>
        </p:nvSpPr>
        <p:spPr>
          <a:xfrm>
            <a:off x="8366559" y="900184"/>
            <a:ext cx="281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32423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Financial Feasibility</a:t>
            </a:r>
            <a:endParaRPr sz="1600"/>
          </a:p>
        </p:txBody>
      </p:sp>
      <p:sp>
        <p:nvSpPr>
          <p:cNvPr id="164" name="Google Shape;164;p16"/>
          <p:cNvSpPr txBox="1"/>
          <p:nvPr/>
        </p:nvSpPr>
        <p:spPr>
          <a:xfrm>
            <a:off x="441900" y="2911337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32423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Challenges and Risks</a:t>
            </a:r>
            <a:endParaRPr sz="1600"/>
          </a:p>
        </p:txBody>
      </p:sp>
      <p:sp>
        <p:nvSpPr>
          <p:cNvPr id="165" name="Google Shape;165;p16"/>
          <p:cNvSpPr txBox="1"/>
          <p:nvPr/>
        </p:nvSpPr>
        <p:spPr>
          <a:xfrm>
            <a:off x="5869924" y="3029325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32423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Risks and Mitigation</a:t>
            </a:r>
            <a:endParaRPr sz="2000"/>
          </a:p>
        </p:txBody>
      </p:sp>
      <p:sp>
        <p:nvSpPr>
          <p:cNvPr id="166" name="Google Shape;166;p16"/>
          <p:cNvSpPr/>
          <p:nvPr/>
        </p:nvSpPr>
        <p:spPr>
          <a:xfrm>
            <a:off x="1343950" y="1301600"/>
            <a:ext cx="33198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&amp; remote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-ready, continuous cultural engagement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app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tourists, researchers, monks, and local communities.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64100" y="2872425"/>
            <a:ext cx="5479500" cy="3491400"/>
          </a:xfrm>
          <a:prstGeom prst="horizontalScroll">
            <a:avLst>
              <a:gd name="adj" fmla="val 12500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Adoption: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Tourists, researchers, and locals may struggle with low digital literacy or hesitate to use new technology.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Connectivity Issues: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Remote monasteries with poor internet may restrict access to virtual tours and digital archives.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Sensitivity: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Bureaucratic or religious constraints can limit filming, digitization, and community participation.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language Support(We are working in this)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869925" y="3084375"/>
            <a:ext cx="5964000" cy="3279300"/>
          </a:xfrm>
          <a:prstGeom prst="horizontalScroll">
            <a:avLst>
              <a:gd name="adj" fmla="val 12500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an intuitive UI, 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tutorials, and on-site guidance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help tourists, researchers, and locals comfortably use the app.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an o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ffline-first design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cached content and periodic syncing to ensure uninterrupted access in remote monasteries.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Engaging monastery authorities early and 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 culturally respectful practices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obtain approvals and ensure smooth digitization.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609600" y="-187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7" descr="Your startup LOGO"/>
          <p:cNvSpPr/>
          <p:nvPr/>
        </p:nvSpPr>
        <p:spPr>
          <a:xfrm>
            <a:off x="266248" y="147871"/>
            <a:ext cx="15456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 rotWithShape="1">
          <a:blip r:embed="rId4">
            <a:alphaModFix/>
          </a:blip>
          <a:srcRect l="22846" t="7740" r="20137"/>
          <a:stretch/>
        </p:blipFill>
        <p:spPr>
          <a:xfrm>
            <a:off x="321375" y="1070725"/>
            <a:ext cx="1545675" cy="14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5">
            <a:alphaModFix/>
          </a:blip>
          <a:srcRect l="-2400" t="-16894" r="2400" b="29405"/>
          <a:stretch/>
        </p:blipFill>
        <p:spPr>
          <a:xfrm>
            <a:off x="266250" y="2224125"/>
            <a:ext cx="1672726" cy="218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6">
            <a:alphaModFix/>
          </a:blip>
          <a:srcRect t="3677" b="3926"/>
          <a:stretch/>
        </p:blipFill>
        <p:spPr>
          <a:xfrm>
            <a:off x="266250" y="4574188"/>
            <a:ext cx="1672724" cy="15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 rot="5400000">
            <a:off x="2958876" y="-191200"/>
            <a:ext cx="1870200" cy="36846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146800" y="861000"/>
            <a:ext cx="3473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0124D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For Tourists and Travelers</a:t>
            </a:r>
            <a:endParaRPr sz="1800">
              <a:solidFill>
                <a:srgbClr val="20124D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Gain easier and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monastery exploration.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Easy navigation,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guides, multilingual support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immersive experiences.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3000075" y="1845675"/>
            <a:ext cx="1870200" cy="36186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146800" y="2806525"/>
            <a:ext cx="3949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C343D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For Monks And Monasteries</a:t>
            </a:r>
            <a:endParaRPr sz="1800" b="1">
              <a:solidFill>
                <a:srgbClr val="0C343D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monastery journeys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360° tours.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navigation with offline guides, multilingual support, and maps.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7"/>
          <p:cNvSpPr/>
          <p:nvPr/>
        </p:nvSpPr>
        <p:spPr>
          <a:xfrm rot="5400000">
            <a:off x="3118325" y="3617650"/>
            <a:ext cx="1600800" cy="37095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001825" y="4761263"/>
            <a:ext cx="3866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C113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For GOVERNMENT/TOURISM    </a:t>
            </a:r>
            <a:endParaRPr sz="1700" b="1">
              <a:solidFill>
                <a:srgbClr val="4C113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C113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BOARD</a:t>
            </a:r>
            <a:endParaRPr sz="1700" b="1">
              <a:solidFill>
                <a:srgbClr val="4C113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Boost tourism by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visitors.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Global promotion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sustainability.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9" name="Google Shape;18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31375" y="716000"/>
            <a:ext cx="5739924" cy="54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8" name="Google Shape;198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18" descr="Your startup LOGO"/>
          <p:cNvSpPr/>
          <p:nvPr/>
        </p:nvSpPr>
        <p:spPr>
          <a:xfrm>
            <a:off x="329773" y="252246"/>
            <a:ext cx="160062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8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412533" y="1201502"/>
            <a:ext cx="5388827" cy="483475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974806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095999" y="1095377"/>
            <a:ext cx="5683500" cy="4834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" y="14224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974806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Government Initiatives</a:t>
            </a:r>
            <a:endParaRPr sz="20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78950" y="1892250"/>
            <a:ext cx="5388900" cy="3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Affairs and Heritage Department, Sikkim</a:t>
            </a:r>
            <a:b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department focuses on preserving the unique cultural heritage of the state by identifying and conserving heritage monuments.</a:t>
            </a:r>
            <a:r>
              <a:rPr lang="en-US" sz="1700" dirty="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7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Sikkim Government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Preservation of Religious Manuscripts and Artifacts</a:t>
            </a:r>
            <a:b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government implements policies for the preservation of heritage sites and religious relics, collaborating with UNESCO and other international bodies.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Sikkim Palace Archive </a:t>
            </a:r>
            <a:r>
              <a:rPr lang="en-US" sz="17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Digitisation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aims to preserve, digitize, and make available to academic inquiry the previously neglected royal archives of the former Himalayan Buddhist kingdom of Sikkim.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095534" y="129497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74806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Relevant Platforms </a:t>
            </a:r>
            <a:endParaRPr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055650" y="1422400"/>
            <a:ext cx="5764200" cy="24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Sikkim Darshan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QR-based and audio guide-enabled digital platform launched in May 2025, offering detailed information, multimedia, and real-time updates for over 50 attractions in Hindi, English, and Nepali.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Fyule Video Lab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Provides virtual walkthrough videos of historical monuments like Rumtek Monastery, integrating art and history for educational purposes.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7375" y="3547550"/>
            <a:ext cx="5540751" cy="22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19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1030</Words>
  <Application>Microsoft Office PowerPoint</Application>
  <PresentationFormat>Widescreen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Calibri</vt:lpstr>
      <vt:lpstr>Times New Roman</vt:lpstr>
      <vt:lpstr>Oswald</vt:lpstr>
      <vt:lpstr>Dancing Script</vt:lpstr>
      <vt:lpstr>Permanent Marker</vt:lpstr>
      <vt:lpstr>Arial</vt:lpstr>
      <vt:lpstr>Garamond</vt:lpstr>
      <vt:lpstr>Quintessential</vt:lpstr>
      <vt:lpstr>Office Theme</vt:lpstr>
      <vt:lpstr>SMART INDIA HACKATHON 2025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Zarah</dc:creator>
  <cp:lastModifiedBy>ADMIN</cp:lastModifiedBy>
  <cp:revision>13</cp:revision>
  <dcterms:modified xsi:type="dcterms:W3CDTF">2026-09-16T09:22:11Z</dcterms:modified>
</cp:coreProperties>
</file>