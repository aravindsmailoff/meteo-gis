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Dancing Script" panose="020B0604020202020204" charset="0"/>
      <p:regular r:id="rId14"/>
      <p:bold r:id="rId15"/>
    </p:embeddedFont>
    <p:embeddedFont>
      <p:font typeface="Garamond" panose="02020404030301010803" pitchFamily="18" charset="0"/>
      <p:regular r:id="rId16"/>
      <p:bold r:id="rId17"/>
      <p:italic r:id="rId18"/>
      <p:boldItalic r:id="rId19"/>
    </p:embeddedFont>
    <p:embeddedFont>
      <p:font typeface="Oswald" panose="020B0604020202020204" charset="0"/>
      <p:regular r:id="rId20"/>
      <p:bold r:id="rId21"/>
    </p:embeddedFont>
    <p:embeddedFont>
      <p:font typeface="Permanent Marker" panose="020B0604020202020204" charset="0"/>
      <p:regular r:id="rId22"/>
    </p:embeddedFont>
    <p:embeddedFont>
      <p:font typeface="Quintessential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font" Target="fonts/font13.fntdata"/><Relationship Id="rId23" Type="http://schemas.openxmlformats.org/officeDocument/2006/relationships/font" Target="fonts/font14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hyperlink" Target="https://www.youtube.com/shorts/VSu_6MMC6hk" TargetMode="External"/><Relationship Id="rId10" Type="http://schemas.openxmlformats.org/officeDocument/2006/relationships/hyperlink" Target="https://sidequestvr.com/app/44174/campus-tou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Relationship Id="rId9" Type="http://schemas.openxmlformats.org/officeDocument/2006/relationships/image" Target="../media/image13.jpeg"/><Relationship Id="rId10" Type="http://schemas.openxmlformats.org/officeDocument/2006/relationships/image" Target="../media/image14.jpeg"/><Relationship Id="rId11" Type="http://schemas.openxmlformats.org/officeDocument/2006/relationships/hyperlink" Target="https://www.youtube.com/shorts/VSu_6MMC6hk" TargetMode="External"/><Relationship Id="rId12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www.sikkim.gov.in/departments/cultural-affairs-and-heritage-department/initiatives-under-archives-archaeology-section?utm_source=chatgpt.com" TargetMode="External"/><Relationship Id="rId5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331286" y="-23776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3000" b="1">
                <a:latin typeface="Garamond"/>
              </a:defRPr>
            </a:pPr>
            <a:r>
              <a:t>SMART INDIA HACKATHON 2025</a:t>
            </a:r>
          </a:p>
        </p:txBody>
      </p:sp>
      <p:sp>
        <p:nvSpPr>
          <p:cNvPr id="92" name="Google Shape;92;p13"/>
          <p:cNvSpPr txBox="1"/>
          <p:nvPr/>
        </p:nvSpPr>
        <p:spPr>
          <a:xfrm>
            <a:off x="331286" y="800458"/>
            <a:ext cx="9579600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300"/>
            </a:pPr>
            <a:r>
              <a:t>Problem Statement ID – 26084</a:t>
            </a:r>
          </a:p>
          <a:p>
            <a:pPr>
              <a:defRPr sz="1300"/>
            </a:pPr>
            <a:r>
              <a:t>Problem Statement Title - Convective scale nowcasting for Thunderstorms, Hail &amp; Cloudbursts (06 hr)</a:t>
            </a:r>
          </a:p>
          <a:p>
            <a:pPr>
              <a:defRPr sz="1300"/>
            </a:pPr>
            <a:r>
              <a:t>Organization - Ministry of Earth Sciences (MoES)</a:t>
            </a:r>
          </a:p>
          <a:p>
            <a:pPr>
              <a:defRPr sz="1300"/>
            </a:pPr>
            <a:r>
              <a:t>Department - National Centre for Medium Range Weather Forecasting (NCMRWF)</a:t>
            </a:r>
          </a:p>
          <a:p>
            <a:pPr>
              <a:defRPr sz="1300"/>
            </a:pPr>
            <a:r>
              <a:t>Category - Software  |  Theme - Disaster Management</a:t>
            </a:r>
          </a:p>
          <a:p>
            <a:pPr>
              <a:defRPr sz="1300"/>
            </a:pPr>
            <a:r>
              <a:t>Team ID - 50617  |  Team Name - Antigravity (Promatrs)</a:t>
            </a:r>
          </a:p>
        </p:txBody>
      </p:sp>
      <p:pic>
        <p:nvPicPr>
          <p:cNvPr id="93" name="Google Shape;93;p13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4" descr="Your startup LOGO"/>
          <p:cNvSpPr/>
          <p:nvPr/>
        </p:nvSpPr>
        <p:spPr>
          <a:xfrm>
            <a:off x="329773" y="252246"/>
            <a:ext cx="1508859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955388" y="332675"/>
            <a:ext cx="77595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500" b="1">
                <a:latin typeface="Quintessential"/>
              </a:defRPr>
            </a:pPr>
            <a:r>
              <a:t>Hyper-Local Convective-Scale Nowcasting Platform (0–6 hr Lead Time at 1–3 km)</a:t>
            </a:r>
          </a:p>
        </p:txBody>
      </p:sp>
      <p:sp>
        <p:nvSpPr>
          <p:cNvPr id="105" name="Google Shape;105;p14"/>
          <p:cNvSpPr/>
          <p:nvPr/>
        </p:nvSpPr>
        <p:spPr>
          <a:xfrm>
            <a:off x="236003" y="1549662"/>
            <a:ext cx="6145341" cy="1777226"/>
          </a:xfrm>
          <a:prstGeom prst="roundRect">
            <a:avLst>
              <a:gd name="adj" fmla="val 16667"/>
            </a:avLst>
          </a:prstGeom>
          <a:solidFill>
            <a:srgbClr val="F2DAD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50"/>
            </a:pPr>
            <a:r>
              <a:t>PROBLEM STATEMENT (MoES / NCMRWF — PS 26084)</a:t>
            </a:r>
          </a:p>
          <a:p>
            <a:pPr>
              <a:defRPr sz="1050"/>
            </a:pPr>
            <a:r>
              <a:t>• Severe Convective Hazard: Thunderstorms, hail, downburst winds, and cloudbursts are India's deadliest rapid-onset hazards.</a:t>
            </a:r>
          </a:p>
          <a:p>
            <a:pPr>
              <a:defRPr sz="1050"/>
            </a:pPr>
            <a:r>
              <a:t>• NWP Computational Limitation: Traditional physics-based NWP models are too computationally slow to simulate violent storms developing within minutes, slipping through coarse grid resolutions.</a:t>
            </a:r>
          </a:p>
          <a:p>
            <a:pPr>
              <a:defRPr sz="1050"/>
            </a:pPr>
            <a:r>
              <a:t>• Short-Term Early Warning Gap: Existing systems lack hyper-local (1–3 km) 0–6 hour lead time nowcasts, leaving local administrations, aviation, and farming communities vulnerable to sudden devastation.</a:t>
            </a:r>
          </a:p>
        </p:txBody>
      </p:sp>
      <p:sp>
        <p:nvSpPr>
          <p:cNvPr id="106" name="Google Shape;106;p14"/>
          <p:cNvSpPr txBox="1"/>
          <p:nvPr/>
        </p:nvSpPr>
        <p:spPr>
          <a:xfrm>
            <a:off x="1156764" y="3286108"/>
            <a:ext cx="378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300" b="1">
                <a:latin typeface="Permanent Marker"/>
              </a:defRPr>
            </a:pPr>
            <a:r>
              <a:t>Target Stakeholders</a:t>
            </a:r>
          </a:p>
        </p:txBody>
      </p:sp>
      <p:sp>
        <p:nvSpPr>
          <p:cNvPr id="107" name="Google Shape;107;p14"/>
          <p:cNvSpPr/>
          <p:nvPr/>
        </p:nvSpPr>
        <p:spPr>
          <a:xfrm>
            <a:off x="6945572" y="1793824"/>
            <a:ext cx="5010424" cy="374239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/>
            </a:pPr>
            <a:r>
              <a:t>• Multi-Source Data Fusion Engine: Real-time ingestion fusing Doppler Weather Radars (DWR reflectivity &amp; velocity), geostationary satellite (INSAT-3D/3DR TIR-1 cloud-top cooling), and ground lightning detection networks.</a:t>
            </a:r>
          </a:p>
          <a:p>
            <a:pPr>
              <a:defRPr sz="1000"/>
            </a:pPr>
            <a:r>
              <a:t>• Early Convective Initiation (CI): Detects rapid storm genesis 30–60 minutes before severe radar reflectivity cores emerge.</a:t>
            </a:r>
          </a:p>
          <a:p>
            <a:pPr>
              <a:defRPr sz="1000"/>
            </a:pPr>
            <a:r>
              <a:t>• Dynamic Severe Storm Parameters: Real-time forecasting of lightning strike density, hail probability &amp; MESH diameter, downburst wind velocity, and cloudburst threshold (≥100 mm/h).</a:t>
            </a:r>
          </a:p>
          <a:p>
            <a:pPr>
              <a:defRPr sz="1000"/>
            </a:pPr>
            <a:r>
              <a:t>• 1–3 km Interactive GIS Dashboard: Hyper-local hazard zones with real-time vector extrapolation and live countdown clocks for storm arrivals.</a:t>
            </a:r>
          </a:p>
          <a:p>
            <a:pPr>
              <a:defRPr sz="1000"/>
            </a:pPr>
            <a:r>
              <a:t>• Authoritative Data Integrity: Operates on genuine operational data streams with verifiable telemetry provenance.</a:t>
            </a: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4">
            <a:alphaModFix/>
          </a:blip>
          <a:srcRect l="17398" t="9710" r="14689" b="9297"/>
          <a:stretch/>
        </p:blipFill>
        <p:spPr>
          <a:xfrm>
            <a:off x="10015072" y="1441986"/>
            <a:ext cx="1042925" cy="57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9" name="Google Shape;10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975" y="3422103"/>
            <a:ext cx="1794476" cy="15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3587" y="3695745"/>
            <a:ext cx="1794481" cy="1794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664" y="3501244"/>
            <a:ext cx="1794481" cy="1794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 rotWithShape="1">
          <a:blip r:embed="rId6">
            <a:alphaModFix/>
          </a:blip>
          <a:srcRect l="14359" t="8312" r="8936" b="8892"/>
          <a:stretch/>
        </p:blipFill>
        <p:spPr>
          <a:xfrm>
            <a:off x="481025" y="3990966"/>
            <a:ext cx="1206350" cy="11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49200" y="5051803"/>
            <a:ext cx="20700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950" b="1">
                <a:latin typeface="Quintessential"/>
              </a:defRPr>
            </a:pPr>
            <a:r>
              <a:t>MoES / NCMRWF &amp; Disaster Authorities (NDMA, SDMAs, EOCs)</a:t>
            </a:r>
          </a:p>
        </p:txBody>
      </p:sp>
      <p:pic>
        <p:nvPicPr>
          <p:cNvPr id="114" name="Google Shape;114;p14"/>
          <p:cNvPicPr preferRelativeResize="0"/>
          <p:nvPr/>
        </p:nvPicPr>
        <p:blipFill rotWithShape="1">
          <a:blip r:embed="rId7">
            <a:alphaModFix/>
          </a:blip>
          <a:srcRect t="26557" b="20998"/>
          <a:stretch/>
        </p:blipFill>
        <p:spPr>
          <a:xfrm>
            <a:off x="2296386" y="4305086"/>
            <a:ext cx="1508850" cy="117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1908986" y="5387136"/>
            <a:ext cx="23997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950" b="1">
                <a:latin typeface="Quintessential"/>
              </a:defRPr>
            </a:pPr>
            <a:r>
              <a:t>Aviation Safety, Airport Towers &amp; Low-Altitude Corridors</a:t>
            </a:r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8">
            <a:alphaModFix/>
          </a:blip>
          <a:srcRect l="11385" t="34136" r="16552" b="4377"/>
          <a:stretch/>
        </p:blipFill>
        <p:spPr>
          <a:xfrm>
            <a:off x="4381458" y="4087399"/>
            <a:ext cx="1730675" cy="13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4154458" y="5319112"/>
            <a:ext cx="20700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950" b="1">
                <a:latin typeface="Quintessential"/>
              </a:defRPr>
            </a:pPr>
            <a:r>
              <a:t>Rural Farming, District Engineers &amp; Vulnerable Communities</a:t>
            </a:r>
          </a:p>
        </p:txBody>
      </p:sp>
      <p:sp>
        <p:nvSpPr>
          <p:cNvPr id="118" name="Google Shape;118;p14"/>
          <p:cNvSpPr txBox="1"/>
          <p:nvPr/>
        </p:nvSpPr>
        <p:spPr>
          <a:xfrm>
            <a:off x="7007900" y="1443325"/>
            <a:ext cx="31521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300" b="1">
                <a:latin typeface="Times New Roman"/>
              </a:defRPr>
            </a:pPr>
            <a:r>
              <a:t>PROPOSED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BA924C-3C33-4A99-9EBB-2FAB977D2DF3}"/>
              </a:ext>
            </a:extLst>
          </p:cNvPr>
          <p:cNvSpPr/>
          <p:nvPr/>
        </p:nvSpPr>
        <p:spPr>
          <a:xfrm>
            <a:off x="7235014" y="5568933"/>
            <a:ext cx="6096000" cy="6848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900"/>
            </a:pPr>
            <a:r>
              <a:t>Live Operational Dashboard: Multi-Source Fusion Active</a:t>
            </a:r>
          </a:p>
        </p:txBody>
      </p:sp>
      <p:sp>
        <p:nvSpPr>
          <p:cNvPr id="24" name="Google Shape;118;p14">
            <a:extLst>
              <a:ext uri="{FF2B5EF4-FFF2-40B4-BE49-F238E27FC236}">
                <a16:creationId xmlns:a16="http://schemas.microsoft.com/office/drawing/2014/main" id="{955E9DE5-3319-4BF1-A3BA-68BCAA5B9488}"/>
              </a:ext>
            </a:extLst>
          </p:cNvPr>
          <p:cNvSpPr txBox="1"/>
          <p:nvPr/>
        </p:nvSpPr>
        <p:spPr>
          <a:xfrm>
            <a:off x="-15271" y="5922758"/>
            <a:ext cx="8400514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900">
                <a:latin typeface="Times New Roman"/>
              </a:defRPr>
            </a:pPr>
            <a:r>
              <a:t>NCMRWF Objective: 0–6h Lead Time • 1–3 km Hyper-Local Resolution • Live Arrival Countdown Clocks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 descr="Your startup LOGO"/>
          <p:cNvSpPr/>
          <p:nvPr/>
        </p:nvSpPr>
        <p:spPr>
          <a:xfrm>
            <a:off x="329773" y="252246"/>
            <a:ext cx="1480366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1917781" y="259679"/>
            <a:ext cx="7815943" cy="43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800" b="1">
                <a:latin typeface="Times New Roman"/>
              </a:defRPr>
            </a:pPr>
            <a:r>
              <a:t>TECHNICAL APPROACH &amp; DATA FLOW ARCHITECTURE</a:t>
            </a:r>
          </a:p>
        </p:txBody>
      </p:sp>
      <p:sp>
        <p:nvSpPr>
          <p:cNvPr id="126" name="Google Shape;126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 dirty="0">
              <a:solidFill>
                <a:schemeClr val="lt1"/>
              </a:solidFill>
            </a:endParaRPr>
          </a:p>
        </p:txBody>
      </p:sp>
      <p:pic>
        <p:nvPicPr>
          <p:cNvPr id="129" name="Google Shape;129;p15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6667" y="3302622"/>
            <a:ext cx="1406100" cy="3015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27719" y="3320141"/>
            <a:ext cx="1477301" cy="300964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-31736" y="1660408"/>
            <a:ext cx="3620684" cy="1810084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19866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 sz="1000">
                <a:latin typeface="Times New Roman"/>
              </a:defRPr>
            </a:pPr>
            <a:r>
              <a:t>• IMD Doppler Weather Radar (DWR) — Plan Position Indicator (PPI) reflectivity (dBZ) &amp; Doppler radial velocity fields</a:t>
            </a:r>
          </a:p>
          <a:p>
            <a:pPr>
              <a:defRPr sz="1000">
                <a:latin typeface="Times New Roman"/>
              </a:defRPr>
            </a:pPr>
            <a:r>
              <a:t>• ISRO MOSDAC / INSAT-3DR — Rapid-scan geostationary TIR-1 cloud-top cooling rates (dT/dt &lt; -4K/15min) for early CI</a:t>
            </a:r>
          </a:p>
          <a:p>
            <a:pPr>
              <a:defRPr sz="1000">
                <a:latin typeface="Times New Roman"/>
              </a:defRPr>
            </a:pPr>
            <a:r>
              <a:t>• Ground Lightning Detection Network — Real-time lightning strike density (strikes/km²/hr) &amp; flash rate tracking</a:t>
            </a:r>
          </a:p>
          <a:p>
            <a:pPr>
              <a:defRPr sz="1000">
                <a:latin typeface="Times New Roman"/>
              </a:defRPr>
            </a:pPr>
            <a:r>
              <a:t>• IMD AWS/ARG Surface Network — 1,165+ ground stations for in-situ thermodynamic verification &amp; pressure drops</a:t>
            </a:r>
          </a:p>
          <a:p>
            <a:pPr>
              <a:defRPr sz="1000">
                <a:latin typeface="Times New Roman"/>
              </a:defRPr>
            </a:pPr>
            <a:r>
              <a:t>• Next.js 14 &amp; Leaflet/MapLibre Engine — High-performance GIS rendering 1–3 km hazard grids &amp; vector motion</a:t>
            </a:r>
          </a:p>
          <a:p>
            <a:pPr>
              <a:defRPr sz="1000">
                <a:latin typeface="Times New Roman"/>
              </a:defRPr>
            </a:pPr>
            <a:r>
              <a:t>• FastAPI Convective Engine — Sub-30s inference pipeline computing storm cell trajectories &amp; countdown clocks</a:t>
            </a:r>
          </a:p>
        </p:txBody>
      </p:sp>
      <p:sp>
        <p:nvSpPr>
          <p:cNvPr id="141" name="Google Shape;141;p15"/>
          <p:cNvSpPr txBox="1"/>
          <p:nvPr/>
        </p:nvSpPr>
        <p:spPr>
          <a:xfrm>
            <a:off x="3671125" y="4022000"/>
            <a:ext cx="1005300" cy="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3D3A6-648C-4AB6-A7F6-4BCFE61BD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240" y="3269903"/>
            <a:ext cx="1406100" cy="3048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219F7C-0A33-4459-B523-2FD1E97C37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6412" y="3235362"/>
            <a:ext cx="1408280" cy="30531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B45C33-2F0E-4537-9BF2-3F6D6C688D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899" y="3610200"/>
            <a:ext cx="1477300" cy="3202819"/>
          </a:xfrm>
          <a:prstGeom prst="rect">
            <a:avLst/>
          </a:prstGeom>
        </p:spPr>
      </p:pic>
      <p:sp>
        <p:nvSpPr>
          <p:cNvPr id="130" name="Google Shape;130;p15"/>
          <p:cNvSpPr txBox="1"/>
          <p:nvPr/>
        </p:nvSpPr>
        <p:spPr>
          <a:xfrm>
            <a:off x="84267" y="1300017"/>
            <a:ext cx="25233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300" b="1">
                <a:latin typeface="Times New Roman"/>
              </a:defRPr>
            </a:pPr>
            <a:r>
              <a:t>Multi-Source Ingestion &amp; Fusion Streams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FA37B1-15C5-4665-BC51-26BB01D1CF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6934" y="3175451"/>
            <a:ext cx="1477301" cy="32028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675D06-D577-4F37-AA41-1F650B61E4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1017" y="3566041"/>
            <a:ext cx="1477301" cy="32028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EB142C5-8A64-4529-A8AA-B2CB529BE300}"/>
              </a:ext>
            </a:extLst>
          </p:cNvPr>
          <p:cNvSpPr/>
          <p:nvPr/>
        </p:nvSpPr>
        <p:spPr>
          <a:xfrm>
            <a:off x="7367769" y="6506862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</a:rPr>
              <a:t>For detailed understanding, </a:t>
            </a:r>
            <a:r>
              <a:rPr lang="en-GB" b="1" u="sng" dirty="0">
                <a:solidFill>
                  <a:srgbClr val="0000FF"/>
                </a:solidFill>
                <a:highlight>
                  <a:srgbClr val="FFFF00"/>
                </a:highlight>
                <a:latin typeface="Calibri" panose="020F0502020204030204" pitchFamily="34" charset="0"/>
                <a:hlinkClick r:id="rId11"/>
              </a:rPr>
              <a:t>click here.</a:t>
            </a:r>
            <a:endParaRPr lang="en-GB" dirty="0">
              <a:highlight>
                <a:srgbClr val="FFFF00"/>
              </a:highlight>
            </a:endParaRPr>
          </a:p>
          <a:p>
            <a:br>
              <a:rPr lang="en-GB" dirty="0">
                <a:highlight>
                  <a:srgbClr val="FFFF00"/>
                </a:highlight>
              </a:rPr>
            </a:b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A41EF2D-7733-403B-B95E-E472A14973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1246" y="1239273"/>
            <a:ext cx="4715032" cy="195968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5CED629-0E04-4DBD-9F1D-D917AFB7FD49}"/>
              </a:ext>
            </a:extLst>
          </p:cNvPr>
          <p:cNvSpPr/>
          <p:nvPr/>
        </p:nvSpPr>
        <p:spPr>
          <a:xfrm>
            <a:off x="3095854" y="992240"/>
            <a:ext cx="3796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0–6h Convective Processing Pipeline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9F712F-BA66-4119-BDBB-01125391F08C}"/>
              </a:ext>
            </a:extLst>
          </p:cNvPr>
          <p:cNvSpPr/>
          <p:nvPr/>
        </p:nvSpPr>
        <p:spPr>
          <a:xfrm>
            <a:off x="3671125" y="1361181"/>
            <a:ext cx="33760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950">
                <a:latin typeface="Times New Roman"/>
              </a:defRPr>
            </a:pPr>
            <a:r>
              <a:t>• High-Frequency Ingestion: Automated async pipelines ingest radar sweeps (10 min), satellite frames (15 min), and lightning feeds.</a:t>
            </a:r>
          </a:p>
          <a:p>
            <a:pPr>
              <a:defRPr sz="950">
                <a:latin typeface="Times New Roman"/>
              </a:defRPr>
            </a:pPr>
            <a:r>
              <a:t>• QC &amp; Multi-Sensor Fusion: Spatial alignment onto a unified 1–3 km grid, eliminating ground clutter and satellite parallax.</a:t>
            </a:r>
          </a:p>
          <a:p>
            <a:pPr>
              <a:defRPr sz="950">
                <a:latin typeface="Times New Roman"/>
              </a:defRPr>
            </a:pPr>
            <a:r>
              <a:t>• Early Convective Initiation (CI): Optical flow + satellite thermal infrared cooling rates detect developing cumulus updrafts.</a:t>
            </a:r>
          </a:p>
          <a:p>
            <a:pPr>
              <a:defRPr sz="950">
                <a:latin typeface="Times New Roman"/>
              </a:defRPr>
            </a:pPr>
            <a:r>
              <a:t>• Dynamic Storm Extrapolation: SCIT/TITAN-derived centroid tracking forecasts cell vectors and downburst corridors for 0–6 hours.</a:t>
            </a:r>
          </a:p>
          <a:p>
            <a:pPr>
              <a:defRPr sz="950">
                <a:latin typeface="Times New Roman"/>
              </a:defRPr>
            </a:pPr>
            <a:r>
              <a:t>• Parameter Estimation: Real-time calculation of MESH hail size (mm), hail probability (%), downburst kts, and cloudburst rates (≥100 mm/h).</a:t>
            </a:r>
          </a:p>
          <a:p>
            <a:pPr>
              <a:defRPr sz="950">
                <a:latin typeface="Times New Roman"/>
              </a:defRPr>
            </a:pPr>
            <a:r>
              <a:t>• Real-Time GIS &amp; Live Countdown: Interactive hazard contours, storm motion vectors, and live T-minus arrival countdown timers.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800" b="1"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6" descr="Your startup LOGO"/>
          <p:cNvSpPr/>
          <p:nvPr/>
        </p:nvSpPr>
        <p:spPr>
          <a:xfrm>
            <a:off x="308341" y="160141"/>
            <a:ext cx="1539667" cy="727468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/>
          <p:nvPr/>
        </p:nvSpPr>
        <p:spPr>
          <a:xfrm>
            <a:off x="1362298" y="1277527"/>
            <a:ext cx="3184366" cy="16017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F5AAB"/>
              </a:gs>
              <a:gs pos="100000">
                <a:srgbClr val="C7AEED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4648200" y="1261479"/>
            <a:ext cx="3547966" cy="16017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237350" y="1331787"/>
            <a:ext cx="3687900" cy="1752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4">
            <a:alphaModFix/>
          </a:blip>
          <a:srcRect l="15614" r="14353"/>
          <a:stretch/>
        </p:blipFill>
        <p:spPr>
          <a:xfrm>
            <a:off x="68167" y="1179965"/>
            <a:ext cx="1275795" cy="160175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58" name="Google Shape;158;p16"/>
          <p:cNvSpPr txBox="1"/>
          <p:nvPr/>
        </p:nvSpPr>
        <p:spPr>
          <a:xfrm>
            <a:off x="243040" y="1945543"/>
            <a:ext cx="120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Feasibility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4666536" y="1293572"/>
            <a:ext cx="35682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950">
                <a:latin typeface="Times New Roman"/>
              </a:defRPr>
            </a:pPr>
            <a:r>
              <a:t>• Operational Multi-Source Fusion: Bypasses computationally prohibitive NWP PDE-solvers with sub-30s real-time inference.</a:t>
            </a:r>
          </a:p>
          <a:p>
            <a:pPr>
              <a:defRPr sz="950">
                <a:latin typeface="Times New Roman"/>
              </a:defRPr>
            </a:pPr>
            <a:r>
              <a:t>• Standardized Protocol Integration: Direct ingestion of operational DWR NetCDF/HDF5 radar sweeps, MOSDAC HDF, and CAP XML.</a:t>
            </a:r>
          </a:p>
          <a:p>
            <a:pPr>
              <a:defRPr sz="950">
                <a:latin typeface="Times New Roman"/>
              </a:defRPr>
            </a:pPr>
            <a:r>
              <a:t>• Lightweight GPU WebGL GIS: Renders dynamic 1–3 km hazard polygons and live countdown clocks smoothly on any web browser.</a:t>
            </a:r>
          </a:p>
        </p:txBody>
      </p:sp>
      <p:sp>
        <p:nvSpPr>
          <p:cNvPr id="160" name="Google Shape;160;p16"/>
          <p:cNvSpPr/>
          <p:nvPr/>
        </p:nvSpPr>
        <p:spPr>
          <a:xfrm>
            <a:off x="8366550" y="1179975"/>
            <a:ext cx="33198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950"/>
            </a:pPr>
            <a:r>
              <a:t>• 100% Open-Source software stack (Next.js, Python/FastAPI, Leaflet, GeoTIFF, WebGL), eliminating costly GIS licensing fees.</a:t>
            </a:r>
          </a:p>
          <a:p>
            <a:pPr>
              <a:defRPr sz="950"/>
            </a:pPr>
            <a:r>
              <a:t>• Leverages existing national infrastructure: IMD DWR network, ISRO INSAT-3DR, and IITM lightning sensor network.</a:t>
            </a:r>
          </a:p>
        </p:txBody>
      </p:sp>
      <p:sp>
        <p:nvSpPr>
          <p:cNvPr id="161" name="Google Shape;161;p16"/>
          <p:cNvSpPr txBox="1"/>
          <p:nvPr/>
        </p:nvSpPr>
        <p:spPr>
          <a:xfrm>
            <a:off x="1445498" y="900171"/>
            <a:ext cx="33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Operational Feasibility</a:t>
            </a:r>
          </a:p>
        </p:txBody>
      </p:sp>
      <p:sp>
        <p:nvSpPr>
          <p:cNvPr id="162" name="Google Shape;162;p16"/>
          <p:cNvSpPr txBox="1"/>
          <p:nvPr/>
        </p:nvSpPr>
        <p:spPr>
          <a:xfrm>
            <a:off x="4999725" y="900174"/>
            <a:ext cx="284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Technical Feasibility</a:t>
            </a:r>
          </a:p>
        </p:txBody>
      </p:sp>
      <p:sp>
        <p:nvSpPr>
          <p:cNvPr id="163" name="Google Shape;163;p16"/>
          <p:cNvSpPr txBox="1"/>
          <p:nvPr/>
        </p:nvSpPr>
        <p:spPr>
          <a:xfrm>
            <a:off x="8366559" y="900184"/>
            <a:ext cx="281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Financial Feasibility</a:t>
            </a:r>
          </a:p>
        </p:txBody>
      </p:sp>
      <p:sp>
        <p:nvSpPr>
          <p:cNvPr id="164" name="Google Shape;164;p16"/>
          <p:cNvSpPr txBox="1"/>
          <p:nvPr/>
        </p:nvSpPr>
        <p:spPr>
          <a:xfrm>
            <a:off x="441900" y="2911337"/>
            <a:ext cx="27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Challenges and Risks</a:t>
            </a:r>
          </a:p>
        </p:txBody>
      </p:sp>
      <p:sp>
        <p:nvSpPr>
          <p:cNvPr id="165" name="Google Shape;165;p16"/>
          <p:cNvSpPr txBox="1"/>
          <p:nvPr/>
        </p:nvSpPr>
        <p:spPr>
          <a:xfrm>
            <a:off x="5869924" y="3029325"/>
            <a:ext cx="27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Risks and Mitigation</a:t>
            </a:r>
          </a:p>
        </p:txBody>
      </p:sp>
      <p:sp>
        <p:nvSpPr>
          <p:cNvPr id="166" name="Google Shape;166;p16"/>
          <p:cNvSpPr/>
          <p:nvPr/>
        </p:nvSpPr>
        <p:spPr>
          <a:xfrm>
            <a:off x="1343950" y="1301600"/>
            <a:ext cx="33198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950">
                <a:latin typeface="Times New Roman"/>
              </a:defRPr>
            </a:pPr>
            <a:r>
              <a:t>• Purpose-built for NCMRWF forecasters, State Disaster Management Authorities (SDMAs), and District Emergency Operation Centres.</a:t>
            </a:r>
          </a:p>
          <a:p>
            <a:pPr>
              <a:defRPr sz="950">
                <a:latin typeface="Times New Roman"/>
              </a:defRPr>
            </a:pPr>
            <a:r>
              <a:t>• Actionable Live Countdown Clocks: Replaces vague district forecasts with exact storm arrival countdowns (e.g., 'T-35 min to Hail Core').</a:t>
            </a:r>
          </a:p>
        </p:txBody>
      </p:sp>
      <p:sp>
        <p:nvSpPr>
          <p:cNvPr id="167" name="Google Shape;167;p16"/>
          <p:cNvSpPr/>
          <p:nvPr/>
        </p:nvSpPr>
        <p:spPr>
          <a:xfrm>
            <a:off x="264100" y="2872425"/>
            <a:ext cx="5479500" cy="3491400"/>
          </a:xfrm>
          <a:prstGeom prst="horizontalScroll">
            <a:avLst>
              <a:gd name="adj" fmla="val 12500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>
              <a:defRPr sz="950"/>
            </a:pPr>
            <a:r>
              <a:t>• Radar Beam Blockage in Mountain Corridors: DWR beam blockage in complex Himalayan topography.</a:t>
            </a:r>
          </a:p>
          <a:p>
            <a:pPr>
              <a:defRPr sz="950"/>
            </a:pPr>
            <a:r>
              <a:t>• Non-Linear Storm Evolution: Cells undergoing rapid split/merge dynamics during violent convection.</a:t>
            </a:r>
          </a:p>
          <a:p>
            <a:pPr>
              <a:defRPr sz="950"/>
            </a:pPr>
            <a:r>
              <a:t>• Feed Disruption &amp; Latency: Sporadic connectivity delays from remote radar and telemetry sites.</a:t>
            </a:r>
          </a:p>
        </p:txBody>
      </p:sp>
      <p:sp>
        <p:nvSpPr>
          <p:cNvPr id="168" name="Google Shape;168;p16"/>
          <p:cNvSpPr/>
          <p:nvPr/>
        </p:nvSpPr>
        <p:spPr>
          <a:xfrm>
            <a:off x="5869925" y="3084375"/>
            <a:ext cx="5964000" cy="3279300"/>
          </a:xfrm>
          <a:prstGeom prst="horizontalScroll">
            <a:avLst>
              <a:gd name="adj" fmla="val 12500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>
              <a:defRPr sz="950">
                <a:latin typeface="Times New Roman"/>
              </a:defRPr>
            </a:pPr>
            <a:r>
              <a:t>• Multi-Source Triangulation: INSAT-3DR rapid cloud-top cooling and lightning density fill radar blind spots in mountain terrain.</a:t>
            </a:r>
          </a:p>
          <a:p>
            <a:pPr>
              <a:defRPr sz="950">
                <a:latin typeface="Times New Roman"/>
              </a:defRPr>
            </a:pPr>
            <a:r>
              <a:t>• Morphological Ensemble Tracking: Hybrid optical flow and centroid kinematics handle cell splitting and merger transitions.</a:t>
            </a:r>
          </a:p>
          <a:p>
            <a:pPr>
              <a:defRPr sz="950">
                <a:latin typeface="Times New Roman"/>
              </a:defRPr>
            </a:pPr>
            <a:r>
              <a:t>• Transparent Provenance: Telemetry latency and data source indicators displayed honestly on every monitored hazard cell.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>
            <a:spLocks noGrp="1"/>
          </p:cNvSpPr>
          <p:nvPr>
            <p:ph type="title"/>
          </p:nvPr>
        </p:nvSpPr>
        <p:spPr>
          <a:xfrm>
            <a:off x="609600" y="-187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800" b="1"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6" name="Google Shape;176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" name="Google Shape;177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17" descr="Your startup LOGO"/>
          <p:cNvSpPr/>
          <p:nvPr/>
        </p:nvSpPr>
        <p:spPr>
          <a:xfrm>
            <a:off x="266248" y="147871"/>
            <a:ext cx="15456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7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/>
          <p:cNvPicPr preferRelativeResize="0"/>
          <p:nvPr/>
        </p:nvPicPr>
        <p:blipFill rotWithShape="1">
          <a:blip r:embed="rId4">
            <a:alphaModFix/>
          </a:blip>
          <a:srcRect l="22846" t="7740" r="20137"/>
          <a:stretch/>
        </p:blipFill>
        <p:spPr>
          <a:xfrm>
            <a:off x="321375" y="1070725"/>
            <a:ext cx="1545675" cy="14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 rotWithShape="1">
          <a:blip r:embed="rId5">
            <a:alphaModFix/>
          </a:blip>
          <a:srcRect l="-2400" t="-16894" r="2400" b="29405"/>
          <a:stretch/>
        </p:blipFill>
        <p:spPr>
          <a:xfrm>
            <a:off x="266250" y="2224125"/>
            <a:ext cx="1672726" cy="218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 rotWithShape="1">
          <a:blip r:embed="rId6">
            <a:alphaModFix/>
          </a:blip>
          <a:srcRect t="3677" b="3926"/>
          <a:stretch/>
        </p:blipFill>
        <p:spPr>
          <a:xfrm>
            <a:off x="266250" y="4574188"/>
            <a:ext cx="1672724" cy="15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 rot="5400000">
            <a:off x="2958876" y="-191200"/>
            <a:ext cx="1870200" cy="3684600"/>
          </a:xfrm>
          <a:prstGeom prst="wedgeRoundRectCallout">
            <a:avLst>
              <a:gd name="adj1" fmla="val -21649"/>
              <a:gd name="adj2" fmla="val 5555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2146800" y="861000"/>
            <a:ext cx="34734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000">
                <a:latin typeface="Permanent Marker"/>
              </a:defRPr>
            </a:pPr>
            <a:r>
              <a:t>For NCMRWF, IMD &amp; Disaster Authorities (NDMA / SDMAs)</a:t>
            </a:r>
          </a:p>
          <a:p>
            <a:pPr>
              <a:defRPr sz="1000">
                <a:latin typeface="Permanent Marker"/>
              </a:defRPr>
            </a:pPr>
            <a:r>
              <a:t>• Bridges the Critical 0–6h Gap: Closes the temporal gap where traditional NWP is too slow to alert on localized convective bursts.</a:t>
            </a:r>
          </a:p>
          <a:p>
            <a:pPr>
              <a:defRPr sz="1000">
                <a:latin typeface="Permanent Marker"/>
              </a:defRPr>
            </a:pPr>
            <a:r>
              <a:t>• 30–60 Min Early CI Advantage: Detects convective updrafts before destructive cloudburst and hail precipitation cores reach the ground.</a:t>
            </a:r>
          </a:p>
          <a:p>
            <a:pPr>
              <a:defRPr sz="1000">
                <a:latin typeface="Permanent Marker"/>
              </a:defRPr>
            </a:pPr>
            <a:r>
              <a:t>• Zero False Alarm Fatigue: Hyper-local 1–3 km hazard zones ensure alerts target only the exact communities in the path of the storm.</a:t>
            </a:r>
          </a:p>
        </p:txBody>
      </p:sp>
      <p:sp>
        <p:nvSpPr>
          <p:cNvPr id="185" name="Google Shape;185;p17"/>
          <p:cNvSpPr/>
          <p:nvPr/>
        </p:nvSpPr>
        <p:spPr>
          <a:xfrm rot="5400000">
            <a:off x="3000075" y="1845675"/>
            <a:ext cx="1870200" cy="3618600"/>
          </a:xfrm>
          <a:prstGeom prst="wedgeRoundRectCallout">
            <a:avLst>
              <a:gd name="adj1" fmla="val -21649"/>
              <a:gd name="adj2" fmla="val 5555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2146800" y="2806525"/>
            <a:ext cx="3949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1000">
                <a:latin typeface="Permanent Marker"/>
              </a:defRPr>
            </a:pPr>
            <a:r>
              <a:t>For Aviation, Transport &amp; Critical Infrastructure</a:t>
            </a:r>
          </a:p>
          <a:p>
            <a:pPr>
              <a:defRPr sz="1000">
                <a:latin typeface="Permanent Marker"/>
              </a:defRPr>
            </a:pPr>
            <a:r>
              <a:t>• Severe Downburst Warnings: Radial velocity shear detection provides low-altitude windshear alerts for airport runways and flight corridors.</a:t>
            </a:r>
          </a:p>
          <a:p>
            <a:pPr>
              <a:defRPr sz="1000">
                <a:latin typeface="Permanent Marker"/>
              </a:defRPr>
            </a:pPr>
            <a:r>
              <a:t>• Cloudburst Inundation Defense: Anticipates ≥100 mm/h deluge corridors, allowing railway and highway engineers to halt traffic pre-emptively.</a:t>
            </a:r>
          </a:p>
          <a:p>
            <a:pPr>
              <a:defRPr sz="1000">
                <a:latin typeface="Permanent Marker"/>
              </a:defRPr>
            </a:pPr>
            <a:r>
              <a:t>• Power Grid Protection: Real-time lightning strike density tracking safeguards high-voltage transmission substations.</a:t>
            </a:r>
          </a:p>
        </p:txBody>
      </p:sp>
      <p:sp>
        <p:nvSpPr>
          <p:cNvPr id="187" name="Google Shape;187;p17"/>
          <p:cNvSpPr/>
          <p:nvPr/>
        </p:nvSpPr>
        <p:spPr>
          <a:xfrm rot="5400000">
            <a:off x="3118325" y="3617650"/>
            <a:ext cx="1600800" cy="3709500"/>
          </a:xfrm>
          <a:prstGeom prst="wedgeRoundRectCallout">
            <a:avLst>
              <a:gd name="adj1" fmla="val -21649"/>
              <a:gd name="adj2" fmla="val 5555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2001825" y="4761263"/>
            <a:ext cx="3866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1000">
                <a:latin typeface="Permanent Marker"/>
              </a:defRPr>
            </a:pPr>
            <a:r>
              <a:t>For Rural Agriculture &amp; Farming Communities</a:t>
            </a:r>
          </a:p>
          <a:p>
            <a:pPr>
              <a:defRPr sz="1000">
                <a:latin typeface="Permanent Marker"/>
              </a:defRPr>
            </a:pPr>
            <a:r>
              <a:t>• Hail Risk &amp; MESH Sizing: Accurate hail probability and expected stone diameter warnings allow farmers to shelter livestock and orchards.</a:t>
            </a:r>
          </a:p>
          <a:p>
            <a:pPr>
              <a:defRPr sz="1000">
                <a:latin typeface="Permanent Marker"/>
              </a:defRPr>
            </a:pPr>
            <a:r>
              <a:t>• Actionable Countdown Clocks: Simple, intuitive arrival countdowns (e.g., 'Thunderstorm arrival in 40 mins') on mobile-ready GIS maps.</a:t>
            </a:r>
          </a:p>
          <a:p>
            <a:pPr>
              <a:defRPr sz="1000">
                <a:latin typeface="Permanent Marker"/>
              </a:defRPr>
            </a:pPr>
            <a:r>
              <a:t>• Scalable Pan-India Architecture: Ready for deployment across all 36 States/UTs and vulnerable agro-climatic zones.</a:t>
            </a:r>
          </a:p>
        </p:txBody>
      </p:sp>
      <p:pic>
        <p:nvPicPr>
          <p:cNvPr id="189" name="Google Shape;18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31375" y="716000"/>
            <a:ext cx="5739924" cy="54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800" b="1">
                <a:latin typeface="Times New Roman"/>
              </a:defRPr>
            </a:pPr>
            <a:r>
              <a:t>RESEARCH, REFERENCES &amp; BENCHMARKS</a:t>
            </a:r>
          </a:p>
        </p:txBody>
      </p:sp>
      <p:sp>
        <p:nvSpPr>
          <p:cNvPr id="197" name="Google Shape;19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8" name="Google Shape;198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9" name="Google Shape;199;p18" descr="Your startup LOGO"/>
          <p:cNvSpPr/>
          <p:nvPr/>
        </p:nvSpPr>
        <p:spPr>
          <a:xfrm>
            <a:off x="329773" y="252246"/>
            <a:ext cx="160062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8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412533" y="1201502"/>
            <a:ext cx="5388827" cy="483475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974806"/>
              </a:solidFill>
              <a:latin typeface="Quintessential"/>
              <a:ea typeface="Quintessential"/>
              <a:cs typeface="Quintessential"/>
              <a:sym typeface="Quintessential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095999" y="1095377"/>
            <a:ext cx="5683500" cy="4834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609600" y="14224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Permanent Marker"/>
              </a:defRPr>
            </a:pPr>
            <a:r>
              <a:t>Authoritative Standards &amp; Scientific Foundations</a:t>
            </a:r>
          </a:p>
        </p:txBody>
      </p:sp>
      <p:sp>
        <p:nvSpPr>
          <p:cNvPr id="204" name="Google Shape;204;p18"/>
          <p:cNvSpPr/>
          <p:nvPr/>
        </p:nvSpPr>
        <p:spPr>
          <a:xfrm>
            <a:off x="478950" y="1892250"/>
            <a:ext cx="5388900" cy="39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950">
                <a:latin typeface="Times New Roman"/>
              </a:defRPr>
            </a:pPr>
            <a:r>
              <a:t>• MoES &amp; NCMRWF Convective Modeling: Framework for high-resolution mesoscale weather prediction &amp; nowcasting.</a:t>
            </a:r>
          </a:p>
          <a:p>
            <a:pPr>
              <a:defRPr sz="950">
                <a:latin typeface="Times New Roman"/>
              </a:defRPr>
            </a:pPr>
            <a:r>
              <a:t>• IMD DWR Radar Algorithms: Severe storm identification, TITAN/SCIT cell tracking, and MESH hail estimation guidelines.</a:t>
            </a:r>
          </a:p>
          <a:p>
            <a:pPr>
              <a:defRPr sz="950">
                <a:latin typeface="Times New Roman"/>
              </a:defRPr>
            </a:pPr>
            <a:r>
              <a:t>• ISRO MOSDAC INSAT-3D/3DR: Geostationary rapid-scan multispectral cloud-top cooling and convective initiation techniques.</a:t>
            </a:r>
          </a:p>
          <a:p>
            <a:pPr>
              <a:defRPr sz="950">
                <a:latin typeface="Times New Roman"/>
              </a:defRPr>
            </a:pPr>
            <a:r>
              <a:t>• NDMA &amp; WMO CAP Protocol: International Common Alerting Protocol (CAP v1.2) for authenticated multi-hazard alerting.</a:t>
            </a:r>
          </a:p>
        </p:txBody>
      </p:sp>
      <p:sp>
        <p:nvSpPr>
          <p:cNvPr id="205" name="Google Shape;205;p18"/>
          <p:cNvSpPr txBox="1"/>
          <p:nvPr/>
        </p:nvSpPr>
        <p:spPr>
          <a:xfrm>
            <a:off x="6095534" y="129497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Permanent Marker"/>
              </a:defRPr>
            </a:pPr>
            <a:r>
              <a:t>Benchmark Comparisons: Why This Platform?</a:t>
            </a:r>
          </a:p>
        </p:txBody>
      </p:sp>
      <p:sp>
        <p:nvSpPr>
          <p:cNvPr id="206" name="Google Shape;206;p18"/>
          <p:cNvSpPr/>
          <p:nvPr/>
        </p:nvSpPr>
        <p:spPr>
          <a:xfrm>
            <a:off x="6055650" y="1422400"/>
            <a:ext cx="5764200" cy="24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950">
                <a:latin typeface="Times New Roman"/>
              </a:defRPr>
            </a:pPr>
            <a:r>
              <a:t>• Physics-Based NWP Models (WRF / NCUM): High computational overhead, 6–12 hr cycle times, and 4–12 km resolution; unable to resolve rapid 15-minute convective genesis in real-time.</a:t>
            </a:r>
          </a:p>
          <a:p>
            <a:pPr>
              <a:defRPr sz="950">
                <a:latin typeface="Times New Roman"/>
              </a:defRPr>
            </a:pPr>
            <a:r>
              <a:t>• Generic Commercial Weather Apps: Global statistical interpolation without Doppler velocity fields, hail MESH, or cloudburst thresholds.</a:t>
            </a:r>
          </a:p>
          <a:p>
            <a:pPr>
              <a:defRPr sz="950">
                <a:latin typeface="Times New Roman"/>
              </a:defRPr>
            </a:pPr>
            <a:r>
              <a:t>• Proposed Convective Nowcasting System: Real-time Multi-Source Data Fusion, 1–3 km hyper-local resolution, 0–6 hour lead time, dynamic severe parameters (hail, lightning, downburst, cloudburst), and live arrival countdown clocks.</a:t>
            </a:r>
          </a:p>
        </p:txBody>
      </p:sp>
      <p:pic>
        <p:nvPicPr>
          <p:cNvPr id="207" name="Google Shape;20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7375" y="3547550"/>
            <a:ext cx="5540751" cy="22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 sz="1050">
                <a:latin typeface="Arial"/>
              </a:defRPr>
            </a:pPr>
            <a:r>
              <a:t>1. MULTI-SOURCE DATA FUSION: Harmonizes DWR radar (reflectivity &amp; velocity), INSAT-3DR satellite, and lightning networks.</a:t>
            </a:r>
          </a:p>
          <a:p>
            <a:pPr>
              <a:defRPr sz="1050">
                <a:latin typeface="Arial"/>
              </a:defRPr>
            </a:pPr>
            <a:r>
              <a:t>2. 1–3 KM HYPER-LOCAL SPATIAL SCALE: Pinpoint hazard zones replacing coarse district-wide text bulletins.</a:t>
            </a:r>
          </a:p>
          <a:p>
            <a:pPr>
              <a:defRPr sz="1050">
                <a:latin typeface="Arial"/>
              </a:defRPr>
            </a:pPr>
            <a:r>
              <a:t>3. 0–6 HOUR ACTIONABLE NOWCASTING: Fast kinematic extrapolation with live arrival countdown clocks for emergency response.</a:t>
            </a:r>
          </a:p>
          <a:p>
            <a:pPr>
              <a:defRPr sz="1050">
                <a:latin typeface="Arial"/>
              </a:defRPr>
            </a:pPr>
            <a:r>
              <a:t>4. COMPREHENSIVE CONVECTIVE PARAMETERS: Live hail probability &amp; MESH, downburst velocity, lightning density, &amp; cloudburst thresholds.</a:t>
            </a:r>
          </a:p>
          <a:p>
            <a:pPr>
              <a:defRPr sz="1050">
                <a:latin typeface="Arial"/>
              </a:defRPr>
            </a:pPr>
            <a:r>
              <a:t>5. PROVENANCE &amp; RELIABILITY: 100% verified meteorological telemetry with zero synthetic data fabrication and explicit status metrics.</a:t>
            </a:r>
          </a:p>
        </p:txBody>
      </p:sp>
      <p:sp>
        <p:nvSpPr>
          <p:cNvPr id="218" name="Google Shape;218;p19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600" b="1">
                <a:latin typeface="Times New Roman"/>
              </a:defRPr>
            </a:pPr>
            <a:r>
              <a:t>SYSTEM ARCHITECTURE CREED &amp; EVALUATION STANDARDS</a:t>
            </a:r>
          </a:p>
        </p:txBody>
      </p:sp>
      <p:sp>
        <p:nvSpPr>
          <p:cNvPr id="219" name="Google Shape;219;p1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Arial"/>
              </a:defRPr>
            </a:pPr>
            <a:r>
              <a:t>Five Pillars Aligned with MoES / NCMRWF Problem Statement 26084</a:t>
            </a:r>
          </a:p>
        </p:txBody>
      </p:sp>
      <p:pic>
        <p:nvPicPr>
          <p:cNvPr id="220" name="Google Shape;220;p19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1030</Words>
  <Application>Microsoft Office PowerPoint</Application>
  <PresentationFormat>Widescreen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Calibri</vt:lpstr>
      <vt:lpstr>Times New Roman</vt:lpstr>
      <vt:lpstr>Oswald</vt:lpstr>
      <vt:lpstr>Dancing Script</vt:lpstr>
      <vt:lpstr>Permanent Marker</vt:lpstr>
      <vt:lpstr>Arial</vt:lpstr>
      <vt:lpstr>Garamond</vt:lpstr>
      <vt:lpstr>Quintessential</vt:lpstr>
      <vt:lpstr>Office Theme</vt:lpstr>
      <vt:lpstr>SMART INDIA HACKATHON 2025</vt:lpstr>
      <vt:lpstr>PowerPoint Presentation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Zarah</dc:creator>
  <cp:lastModifiedBy>ADMIN</cp:lastModifiedBy>
  <cp:revision>13</cp:revision>
  <dcterms:modified xsi:type="dcterms:W3CDTF">2026-09-16T09:22:11Z</dcterms:modified>
</cp:coreProperties>
</file>